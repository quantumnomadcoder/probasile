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Présentez-vous en une phrase, puis le message : les sources qui gagnent un dossier existent, mais elles sont éparpillées et méconnues. Probasile les rassemble pour un pays, les range avec leur référence complète, puis aide à rédiger. Toute la démonstration utilise un dossier fictif : aucune personne, aucune pièce, aucun fait n'est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minutes maximum. Si vous avez un navigateur sous la main, montrez une seule page source (par exemple la base des organes de traités du HCDH) pour faire sentir la difficulté. Dites : trouver, télécharger, citer correctement, numéroter les annexes, cela prend des heures par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de la démonstration suit ces quatre étapes. Insistez sur la dernière phrase : pour des avocat·es et des permanences, la confidentialité est la première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montrer si le public veut refaire la démonstration chez lui : tout est dans le dossier kit_de_demo, également sur GitHub. resultats_attendus permet de vérifier que l'on obtient la même chose : 17 notes, 4 annexes, aucun problème relevé.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avez le temps la veille, lancez une vraie collecte sur un autre pays dans un autre dossier de base : cela montre l'ampleur réelle. Pour la démonstration, le dossier du kit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direct, cochez seulement le cadre 4 et lancez la collecte : quelques dizaines de secondes. Ouvrez ensuite 02_Ratifications/ratifications.html. Phrase à dire : le pays n'a jamais accepté les plaintes individuelles devant tel comité ? C'est un argument, et il est sourcé. Chaque onglet a son bouton « Mode d'emploi de l'onglet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Parcourez sans lancer : une collecte ReliefWeb peut être longue. Si le site refuse le programme, c'est prévu : le bouton du flux du pays ouvre la recherche dans le navigateur, puis on importe les PDF dans l'onglet Importer.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les boutons « Presse du pays », « Internationale » et « Belge » qui règlent la langue et le pays de Google. La veille sert à suivre l'actualité récente que les rapports ONU ne couvrent pas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cadre 6 montre que la liste n'est pas figée : chacun peut ajouter un acte européen (code CELEX), un site de recherche ou un texte de référence. Le fichier d'exemple est déjà actif dans dossier_demo ; ouvrez-le avec « Ajouter des sources… » pour montrer sa 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document non reconnu, la référence est à compléter : c'est l'occasion de montrer la fenêtre « Gérer… » de l'onglet Rédaction, bouton « Modifier…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la plus impressionnante pour un public de juristes : prévoyez-y la moitié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Réglez : Madame A. Exemple, « une femme », format Word. « Qui demande ? » accorde tous les blocs : la demanderesse, elle, ses enfants…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Cliquez sur « Créer le plan et l'ouvrir ». Dans Word : la table des matières se met à jour par clic droit puis « Mettre à jour les champs ». En gris, les indications de rédaction ; en bleu, les repères des sources sous chaque titre ; les blocs sont accordés au féminin. Phrase à dire : vous adaptez, vous ne partez pas de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Double-clic sur une ligne de la liste (cadre 2) : le début du repère est copié, on ajoute la précision avant les crochets fermants. Le bouton « Comment écrire une note ? » donne tous les exemples. « Gérer… » permet de corriger une référence, d'annexer ou non une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Texte_demo, la carte d'identité est citée en dernier : elle devient l'annexe 4, après le certificat médical (fichier 04). Montrez comment compléter sa description : « Gérer… », sélection, « Modifier… », puis régénérez.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Cadre 3 : « Choisir le texte (.docx ou .odt)… » puis « Générer ». Ouvrez Texte_demo_notes.docx : la note 8 montre Ibid., les notes 14 et 16 op.cit., la note 9 réunit deux courriers de suivi, la note 17 est écrite à la main. Le bloc 74/13 a été inséré et accordé.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montrer le rapport en situation réelle, tapez volontairement un repère erroné (par exemple [[CCPR/C/IDN/CO/9]]) et régénérez : la note affiche SOURCE INTROUVABLE et le rapport le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Cliquez sur « Lire le bulletin » plutôt que « Vérifier en ligne » si le réseau est incertain. Phrase à dire : la loi change souvent ; Probasile dit quels passages relire.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détail de chaque étape, avec les phrases à dire, est dans GUIDE_DEMO.md.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limites rassurent plus qu'elles n'inquiètent : un public de juristes se méfie d'un outil qui promet trop.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la page GitHub. Rappelez que le bulletin est participatif : chacun peut proposer une information, en français, néerlandais ou allemand.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40"/>
        </a:solidFill>
      </p:bgPr>
    </p:bg>
    <p:spTree>
      <p:nvGrpSpPr>
        <p:cNvPr id="1" name=""/>
        <p:cNvGrpSpPr/>
        <p:nvPr/>
      </p:nvGrpSpPr>
      <p:grpSpPr>
        <a:xfrm>
          <a:off x="0" y="0"/>
          <a:ext cx="0" cy="0"/>
          <a:chOff x="0" y="0"/>
          <a:chExt cx="0" cy="0"/>
        </a:xfrm>
      </p:grpSpPr>
      <p:pic>
        <p:nvPicPr>
          <p:cNvPr id="2" name="Image 0" descr="Icône de Probasile">    </p:cNvPr>
          <p:cNvPicPr>
            <a:picLocks noChangeAspect="1"/>
          </p:cNvPicPr>
          <p:nvPr/>
        </p:nvPicPr>
        <p:blipFill>
          <a:blip r:embed="rId1"/>
          <a:stretch>
            <a:fillRect/>
          </a:stretch>
        </p:blipFill>
        <p:spPr>
          <a:xfrm>
            <a:off x="731520" y="822960"/>
            <a:ext cx="1188720" cy="1188720"/>
          </a:xfrm>
          <a:prstGeom prst="rect">
            <a:avLst/>
          </a:prstGeom>
        </p:spPr>
      </p:pic>
      <p:sp>
        <p:nvSpPr>
          <p:cNvPr id="3" name="Text 0"/>
          <p:cNvSpPr txBox="1"/>
          <p:nvPr/>
        </p:nvSpPr>
        <p:spPr>
          <a:xfrm>
            <a:off x="731520" y="2286000"/>
            <a:ext cx="10698480" cy="1188720"/>
          </a:xfrm>
          <a:prstGeom prst="rect">
            <a:avLst/>
          </a:prstGeom>
          <a:noFill/>
          <a:ln/>
        </p:spPr>
        <p:txBody>
          <a:bodyPr wrap="square" lIns="0" tIns="0" rIns="0" bIns="0" rtlCol="0" anchor="ctr"/>
          <a:lstStyle/>
          <a:p>
            <a:pPr indent="0" marL="0">
              <a:buNone/>
            </a:pPr>
            <a:r>
              <a:rPr lang="en-US" sz="4400" b="1" dirty="0">
                <a:solidFill>
                  <a:srgbClr val="F6F2E8"/>
                </a:solidFill>
                <a:latin typeface="Cambria" pitchFamily="34" charset="0"/>
                <a:ea typeface="Cambria" pitchFamily="34" charset="-122"/>
                <a:cs typeface="Cambria" pitchFamily="34" charset="-120"/>
              </a:rPr>
              <a:t>Probasile</a:t>
            </a:r>
            <a:endParaRPr lang="en-US" sz="4400" dirty="0"/>
          </a:p>
        </p:txBody>
      </p:sp>
      <p:sp>
        <p:nvSpPr>
          <p:cNvPr id="4" name="Text 1"/>
          <p:cNvSpPr txBox="1"/>
          <p:nvPr/>
        </p:nvSpPr>
        <p:spPr>
          <a:xfrm>
            <a:off x="731520" y="3520440"/>
            <a:ext cx="10698480" cy="1097280"/>
          </a:xfrm>
          <a:prstGeom prst="rect">
            <a:avLst/>
          </a:prstGeom>
          <a:noFill/>
          <a:ln/>
        </p:spPr>
        <p:txBody>
          <a:bodyPr wrap="square" lIns="0" tIns="0" rIns="0" bIns="0" rtlCol="0" anchor="t"/>
          <a:lstStyle/>
          <a:p>
            <a:pPr indent="0" marL="0">
              <a:buNone/>
            </a:pPr>
            <a:r>
              <a:rPr lang="en-US" sz="2200" dirty="0">
                <a:solidFill>
                  <a:srgbClr val="FF7A30"/>
                </a:solidFill>
                <a:latin typeface="Calibri" pitchFamily="34" charset="0"/>
                <a:ea typeface="Calibri" pitchFamily="34" charset="-122"/>
                <a:cs typeface="Calibri" pitchFamily="34" charset="-120"/>
              </a:rPr>
              <a:t>Collecter les preuves, rédiger le recours :</a:t>
            </a:r>
            <a:endParaRPr lang="en-US" sz="2200" dirty="0"/>
          </a:p>
          <a:p>
            <a:pPr indent="0" marL="0">
              <a:buNone/>
            </a:pPr>
            <a:r>
              <a:rPr lang="en-US" sz="2200" dirty="0">
                <a:solidFill>
                  <a:srgbClr val="FF7A30"/>
                </a:solidFill>
                <a:latin typeface="Calibri" pitchFamily="34" charset="0"/>
                <a:ea typeface="Calibri" pitchFamily="34" charset="-122"/>
                <a:cs typeface="Calibri" pitchFamily="34" charset="-120"/>
              </a:rPr>
              <a:t>démonstration pas à pas</a:t>
            </a:r>
            <a:endParaRPr lang="en-US" sz="2200" dirty="0"/>
          </a:p>
        </p:txBody>
      </p:sp>
      <p:sp>
        <p:nvSpPr>
          <p:cNvPr id="5" name="Text 2"/>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400" dirty="0">
                <a:solidFill>
                  <a:srgbClr val="AAB2C8"/>
                </a:solidFill>
                <a:latin typeface="Calibri" pitchFamily="34" charset="0"/>
                <a:ea typeface="Calibri" pitchFamily="34" charset="-122"/>
                <a:cs typeface="Calibri" pitchFamily="34" charset="-120"/>
              </a:rPr>
              <a:t>Kit de démo – dossier fictif « Indonésie » – version 1.1.1 · logiciel libre GPL-3.0 · github.com/quantumnomadcoder/probasile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Pourquoi Probasile ?</a:t>
            </a:r>
            <a:endParaRPr lang="en-US" sz="3000" dirty="0"/>
          </a:p>
        </p:txBody>
      </p:sp>
      <p:sp>
        <p:nvSpPr>
          <p:cNvPr id="3" name="Shape 1"/>
          <p:cNvSpPr/>
          <p:nvPr/>
        </p:nvSpPr>
        <p:spPr>
          <a:xfrm>
            <a:off x="457200" y="1371600"/>
            <a:ext cx="3566160" cy="3566160"/>
          </a:xfrm>
          <a:prstGeom prst="roundRect">
            <a:avLst>
              <a:gd name="adj" fmla="val 2564"/>
            </a:avLst>
          </a:prstGeom>
          <a:solidFill>
            <a:srgbClr val="EEF0F5"/>
          </a:solidFill>
          <a:ln w="12700">
            <a:solidFill>
              <a:srgbClr val="EEF0F5"/>
            </a:solidFill>
            <a:prstDash val="solid"/>
          </a:ln>
        </p:spPr>
      </p:sp>
      <p:sp>
        <p:nvSpPr>
          <p:cNvPr id="4" name="Shape 2"/>
          <p:cNvSpPr/>
          <p:nvPr/>
        </p:nvSpPr>
        <p:spPr>
          <a:xfrm>
            <a:off x="731520" y="1645920"/>
            <a:ext cx="640080" cy="640080"/>
          </a:xfrm>
          <a:prstGeom prst="ellipse">
            <a:avLst/>
          </a:prstGeom>
          <a:solidFill>
            <a:srgbClr val="1C2440"/>
          </a:solidFill>
          <a:ln w="12700">
            <a:solidFill>
              <a:srgbClr val="1C2440"/>
            </a:solidFill>
            <a:prstDash val="solid"/>
          </a:ln>
        </p:spPr>
      </p:sp>
      <p:sp>
        <p:nvSpPr>
          <p:cNvPr id="5" name="Text 3"/>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731520" y="2468880"/>
            <a:ext cx="3017520" cy="54864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Des sources dispersées</a:t>
            </a:r>
            <a:endParaRPr lang="en-US" sz="2000" dirty="0"/>
          </a:p>
        </p:txBody>
      </p:sp>
      <p:sp>
        <p:nvSpPr>
          <p:cNvPr id="7" name="Text 5"/>
          <p:cNvSpPr txBox="1"/>
          <p:nvPr/>
        </p:nvSpPr>
        <p:spPr>
          <a:xfrm>
            <a:off x="731520" y="3063240"/>
            <a:ext cx="3017520" cy="173736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Comités de l’ONU, ratifications, rapports d’ONG, presse, jurisprudence : des dizaines de sites, chacun avec ses codes et ses pages difficiles à lire.</a:t>
            </a:r>
            <a:endParaRPr lang="en-US" sz="1500" dirty="0"/>
          </a:p>
        </p:txBody>
      </p:sp>
      <p:sp>
        <p:nvSpPr>
          <p:cNvPr id="8" name="Shape 6"/>
          <p:cNvSpPr/>
          <p:nvPr/>
        </p:nvSpPr>
        <p:spPr>
          <a:xfrm>
            <a:off x="4279392" y="1371600"/>
            <a:ext cx="3566160" cy="3566160"/>
          </a:xfrm>
          <a:prstGeom prst="roundRect">
            <a:avLst>
              <a:gd name="adj" fmla="val 2564"/>
            </a:avLst>
          </a:prstGeom>
          <a:solidFill>
            <a:srgbClr val="EEF0F5"/>
          </a:solidFill>
          <a:ln w="12700">
            <a:solidFill>
              <a:srgbClr val="EEF0F5"/>
            </a:solidFill>
            <a:prstDash val="solid"/>
          </a:ln>
        </p:spPr>
      </p:sp>
      <p:sp>
        <p:nvSpPr>
          <p:cNvPr id="9" name="Shape 7"/>
          <p:cNvSpPr/>
          <p:nvPr/>
        </p:nvSpPr>
        <p:spPr>
          <a:xfrm>
            <a:off x="4553712" y="1645920"/>
            <a:ext cx="640080" cy="640080"/>
          </a:xfrm>
          <a:prstGeom prst="ellipse">
            <a:avLst/>
          </a:prstGeom>
          <a:solidFill>
            <a:srgbClr val="1C2440"/>
          </a:solidFill>
          <a:ln w="12700">
            <a:solidFill>
              <a:srgbClr val="1C2440"/>
            </a:solidFill>
            <a:prstDash val="solid"/>
          </a:ln>
        </p:spPr>
      </p:sp>
      <p:sp>
        <p:nvSpPr>
          <p:cNvPr id="10" name="Text 8"/>
          <p:cNvSpPr txBox="1"/>
          <p:nvPr/>
        </p:nvSpPr>
        <p:spPr>
          <a:xfrm>
            <a:off x="4553712"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553712" y="2468880"/>
            <a:ext cx="3017520" cy="54864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Des notes faites à la main</a:t>
            </a:r>
            <a:endParaRPr lang="en-US" sz="2000" dirty="0"/>
          </a:p>
        </p:txBody>
      </p:sp>
      <p:sp>
        <p:nvSpPr>
          <p:cNvPr id="12" name="Text 10"/>
          <p:cNvSpPr txBox="1"/>
          <p:nvPr/>
        </p:nvSpPr>
        <p:spPr>
          <a:xfrm>
            <a:off x="4553712" y="3063240"/>
            <a:ext cx="3017520" cy="173736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Cotes, dates de consultation, Ibid., op.cit., « voir l’annexe n° X », numérotation des annexes : des heures par dossier, et des erreurs.</a:t>
            </a:r>
            <a:endParaRPr lang="en-US" sz="1500" dirty="0"/>
          </a:p>
        </p:txBody>
      </p:sp>
      <p:sp>
        <p:nvSpPr>
          <p:cNvPr id="13" name="Shape 11"/>
          <p:cNvSpPr/>
          <p:nvPr/>
        </p:nvSpPr>
        <p:spPr>
          <a:xfrm>
            <a:off x="8101584" y="1371600"/>
            <a:ext cx="3566160" cy="3566160"/>
          </a:xfrm>
          <a:prstGeom prst="roundRect">
            <a:avLst>
              <a:gd name="adj" fmla="val 2564"/>
            </a:avLst>
          </a:prstGeom>
          <a:solidFill>
            <a:srgbClr val="EEF0F5"/>
          </a:solidFill>
          <a:ln w="12700">
            <a:solidFill>
              <a:srgbClr val="EEF0F5"/>
            </a:solidFill>
            <a:prstDash val="solid"/>
          </a:ln>
        </p:spPr>
      </p:sp>
      <p:sp>
        <p:nvSpPr>
          <p:cNvPr id="14" name="Shape 12"/>
          <p:cNvSpPr/>
          <p:nvPr/>
        </p:nvSpPr>
        <p:spPr>
          <a:xfrm>
            <a:off x="8375904" y="1645920"/>
            <a:ext cx="640080" cy="640080"/>
          </a:xfrm>
          <a:prstGeom prst="ellipse">
            <a:avLst/>
          </a:prstGeom>
          <a:solidFill>
            <a:srgbClr val="1C2440"/>
          </a:solidFill>
          <a:ln w="12700">
            <a:solidFill>
              <a:srgbClr val="1C2440"/>
            </a:solidFill>
            <a:prstDash val="solid"/>
          </a:ln>
        </p:spPr>
      </p:sp>
      <p:sp>
        <p:nvSpPr>
          <p:cNvPr id="15" name="Text 13"/>
          <p:cNvSpPr txBox="1"/>
          <p:nvPr/>
        </p:nvSpPr>
        <p:spPr>
          <a:xfrm>
            <a:off x="8375904"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8375904" y="2468880"/>
            <a:ext cx="3017520" cy="54864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Un droit qui bouge</a:t>
            </a:r>
            <a:endParaRPr lang="en-US" sz="2000" dirty="0"/>
          </a:p>
        </p:txBody>
      </p:sp>
      <p:sp>
        <p:nvSpPr>
          <p:cNvPr id="17" name="Text 15"/>
          <p:cNvSpPr txBox="1"/>
          <p:nvPr/>
        </p:nvSpPr>
        <p:spPr>
          <a:xfrm>
            <a:off x="8375904" y="3063240"/>
            <a:ext cx="3017520" cy="173736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Réforme de la procédure, listes de pays d’origine sûrs, nouveaux arrêts : il faut savoir quels passages relire.</a:t>
            </a:r>
            <a:endParaRPr lang="en-US" sz="1500" dirty="0"/>
          </a:p>
        </p:txBody>
      </p:sp>
      <p:sp>
        <p:nvSpPr>
          <p:cNvPr id="18" name="Shape 16"/>
          <p:cNvSpPr/>
          <p:nvPr/>
        </p:nvSpPr>
        <p:spPr>
          <a:xfrm>
            <a:off x="457200" y="5257800"/>
            <a:ext cx="11274552" cy="822960"/>
          </a:xfrm>
          <a:prstGeom prst="roundRect">
            <a:avLst>
              <a:gd name="adj" fmla="val 8889"/>
            </a:avLst>
          </a:prstGeom>
          <a:solidFill>
            <a:srgbClr val="FFF1E8"/>
          </a:solidFill>
          <a:ln w="12700">
            <a:solidFill>
              <a:srgbClr val="FFF1E8"/>
            </a:solidFill>
            <a:prstDash val="solid"/>
          </a:ln>
        </p:spPr>
      </p:sp>
      <p:sp>
        <p:nvSpPr>
          <p:cNvPr id="19" name="Text 17"/>
          <p:cNvSpPr txBox="1"/>
          <p:nvPr/>
        </p:nvSpPr>
        <p:spPr>
          <a:xfrm>
            <a:off x="640080" y="5349240"/>
            <a:ext cx="10908792" cy="640080"/>
          </a:xfrm>
          <a:prstGeom prst="rect">
            <a:avLst/>
          </a:prstGeom>
          <a:noFill/>
          <a:ln/>
        </p:spPr>
        <p:txBody>
          <a:bodyPr wrap="square" lIns="0" tIns="0" rIns="0" bIns="0" rtlCol="0" anchor="ctr"/>
          <a:lstStyle/>
          <a:p>
            <a:pPr indent="0" marL="0">
              <a:buNone/>
            </a:pPr>
            <a:r>
              <a:rPr lang="en-US" sz="1700" dirty="0">
                <a:solidFill>
                  <a:srgbClr val="222630"/>
                </a:solidFill>
                <a:latin typeface="Calibri" pitchFamily="34" charset="0"/>
                <a:ea typeface="Calibri" pitchFamily="34" charset="-122"/>
                <a:cs typeface="Calibri" pitchFamily="34" charset="-120"/>
              </a:rPr>
              <a:t>Probasile centralise, cite et annexe. La personne qui rédige garde la main sur le fond : chaque passage reste à relire et à adapter.</a:t>
            </a:r>
            <a:endParaRPr lang="en-US" sz="1700" dirty="0"/>
          </a:p>
        </p:txBody>
      </p:sp>
      <p:sp>
        <p:nvSpPr>
          <p:cNvPr id="20" name="Text 18"/>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Un seul dossier, du document trouvé à la note de bas de page</a:t>
            </a:r>
            <a:endParaRPr lang="en-US" sz="3000" dirty="0"/>
          </a:p>
        </p:txBody>
      </p:sp>
      <p:sp>
        <p:nvSpPr>
          <p:cNvPr id="3" name="Shape 1"/>
          <p:cNvSpPr/>
          <p:nvPr/>
        </p:nvSpPr>
        <p:spPr>
          <a:xfrm>
            <a:off x="457200" y="1828800"/>
            <a:ext cx="2514600" cy="2651760"/>
          </a:xfrm>
          <a:prstGeom prst="roundRect">
            <a:avLst>
              <a:gd name="adj" fmla="val 3636"/>
            </a:avLst>
          </a:prstGeom>
          <a:solidFill>
            <a:srgbClr val="EEF0F5"/>
          </a:solidFill>
          <a:ln w="12700">
            <a:solidFill>
              <a:srgbClr val="EEF0F5"/>
            </a:solidFill>
            <a:prstDash val="solid"/>
          </a:ln>
        </p:spPr>
      </p:sp>
      <p:sp>
        <p:nvSpPr>
          <p:cNvPr id="4" name="Text 2"/>
          <p:cNvSpPr txBox="1"/>
          <p:nvPr/>
        </p:nvSpPr>
        <p:spPr>
          <a:xfrm>
            <a:off x="640080" y="2057400"/>
            <a:ext cx="2148840" cy="548640"/>
          </a:xfrm>
          <a:prstGeom prst="rect">
            <a:avLst/>
          </a:prstGeom>
          <a:noFill/>
          <a:ln/>
        </p:spPr>
        <p:txBody>
          <a:bodyPr wrap="square" lIns="0" tIns="0" rIns="0" bIns="0" rtlCol="0" anchor="ctr"/>
          <a:lstStyle/>
          <a:p>
            <a:pPr indent="0" marL="0">
              <a:buNone/>
            </a:pPr>
            <a:r>
              <a:rPr lang="en-US" sz="2200" b="1" dirty="0">
                <a:solidFill>
                  <a:srgbClr val="1C2440"/>
                </a:solidFill>
                <a:latin typeface="Cambria" pitchFamily="34" charset="0"/>
                <a:ea typeface="Cambria" pitchFamily="34" charset="-122"/>
                <a:cs typeface="Cambria" pitchFamily="34" charset="-120"/>
              </a:rPr>
              <a:t>Collecter</a:t>
            </a:r>
            <a:endParaRPr lang="en-US" sz="2200" dirty="0"/>
          </a:p>
        </p:txBody>
      </p:sp>
      <p:sp>
        <p:nvSpPr>
          <p:cNvPr id="5" name="Text 3"/>
          <p:cNvSpPr txBox="1"/>
          <p:nvPr/>
        </p:nvSpPr>
        <p:spPr>
          <a:xfrm>
            <a:off x="640080" y="2697480"/>
            <a:ext cx="2148840" cy="164592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Onglets ONU, ReliefWeb, Presse, Jurisprudence, Importer</a:t>
            </a:r>
            <a:endParaRPr lang="en-US" sz="1500" dirty="0"/>
          </a:p>
        </p:txBody>
      </p:sp>
      <p:sp>
        <p:nvSpPr>
          <p:cNvPr id="6" name="Text 4"/>
          <p:cNvSpPr txBox="1"/>
          <p:nvPr/>
        </p:nvSpPr>
        <p:spPr>
          <a:xfrm>
            <a:off x="2971800" y="2834640"/>
            <a:ext cx="384048" cy="548640"/>
          </a:xfrm>
          <a:prstGeom prst="rect">
            <a:avLst/>
          </a:prstGeom>
          <a:noFill/>
          <a:ln/>
        </p:spPr>
        <p:txBody>
          <a:bodyPr wrap="square" lIns="0" tIns="0" rIns="0" bIns="0" rtlCol="0" anchor="ctr"/>
          <a:lstStyle/>
          <a:p>
            <a:pPr algn="ctr" indent="0" marL="0">
              <a:buNone/>
            </a:pPr>
            <a:r>
              <a:rPr lang="en-US" sz="2800" b="1" dirty="0">
                <a:solidFill>
                  <a:srgbClr val="FF7A30"/>
                </a:solidFill>
                <a:latin typeface="Calibri" pitchFamily="34" charset="0"/>
                <a:ea typeface="Calibri" pitchFamily="34" charset="-122"/>
                <a:cs typeface="Calibri" pitchFamily="34" charset="-120"/>
              </a:rPr>
              <a:t>→</a:t>
            </a:r>
            <a:endParaRPr lang="en-US" sz="2800" dirty="0"/>
          </a:p>
        </p:txBody>
      </p:sp>
      <p:sp>
        <p:nvSpPr>
          <p:cNvPr id="7" name="Shape 5"/>
          <p:cNvSpPr/>
          <p:nvPr/>
        </p:nvSpPr>
        <p:spPr>
          <a:xfrm>
            <a:off x="3355848" y="1828800"/>
            <a:ext cx="2514600" cy="2651760"/>
          </a:xfrm>
          <a:prstGeom prst="roundRect">
            <a:avLst>
              <a:gd name="adj" fmla="val 3636"/>
            </a:avLst>
          </a:prstGeom>
          <a:solidFill>
            <a:srgbClr val="EEF0F5"/>
          </a:solidFill>
          <a:ln w="12700">
            <a:solidFill>
              <a:srgbClr val="EEF0F5"/>
            </a:solidFill>
            <a:prstDash val="solid"/>
          </a:ln>
        </p:spPr>
      </p:sp>
      <p:sp>
        <p:nvSpPr>
          <p:cNvPr id="8" name="Text 6"/>
          <p:cNvSpPr txBox="1"/>
          <p:nvPr/>
        </p:nvSpPr>
        <p:spPr>
          <a:xfrm>
            <a:off x="3538728" y="2057400"/>
            <a:ext cx="2148840" cy="548640"/>
          </a:xfrm>
          <a:prstGeom prst="rect">
            <a:avLst/>
          </a:prstGeom>
          <a:noFill/>
          <a:ln/>
        </p:spPr>
        <p:txBody>
          <a:bodyPr wrap="square" lIns="0" tIns="0" rIns="0" bIns="0" rtlCol="0" anchor="ctr"/>
          <a:lstStyle/>
          <a:p>
            <a:pPr indent="0" marL="0">
              <a:buNone/>
            </a:pPr>
            <a:r>
              <a:rPr lang="en-US" sz="2200" b="1" dirty="0">
                <a:solidFill>
                  <a:srgbClr val="1C2440"/>
                </a:solidFill>
                <a:latin typeface="Cambria" pitchFamily="34" charset="0"/>
                <a:ea typeface="Cambria" pitchFamily="34" charset="-122"/>
                <a:cs typeface="Cambria" pitchFamily="34" charset="-120"/>
              </a:rPr>
              <a:t>Ranger</a:t>
            </a:r>
            <a:endParaRPr lang="en-US" sz="2200" dirty="0"/>
          </a:p>
        </p:txBody>
      </p:sp>
      <p:sp>
        <p:nvSpPr>
          <p:cNvPr id="9" name="Text 7"/>
          <p:cNvSpPr txBox="1"/>
          <p:nvPr/>
        </p:nvSpPr>
        <p:spPr>
          <a:xfrm>
            <a:off x="3538728" y="2697480"/>
            <a:ext cx="2148840" cy="164592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Un dossier par pays ; sources.csv décrit chaque document et sa date de consultation</a:t>
            </a:r>
            <a:endParaRPr lang="en-US" sz="1500" dirty="0"/>
          </a:p>
        </p:txBody>
      </p:sp>
      <p:sp>
        <p:nvSpPr>
          <p:cNvPr id="10" name="Text 8"/>
          <p:cNvSpPr txBox="1"/>
          <p:nvPr/>
        </p:nvSpPr>
        <p:spPr>
          <a:xfrm>
            <a:off x="5870448" y="2834640"/>
            <a:ext cx="384048" cy="548640"/>
          </a:xfrm>
          <a:prstGeom prst="rect">
            <a:avLst/>
          </a:prstGeom>
          <a:noFill/>
          <a:ln/>
        </p:spPr>
        <p:txBody>
          <a:bodyPr wrap="square" lIns="0" tIns="0" rIns="0" bIns="0" rtlCol="0" anchor="ctr"/>
          <a:lstStyle/>
          <a:p>
            <a:pPr algn="ctr" indent="0" marL="0">
              <a:buNone/>
            </a:pPr>
            <a:r>
              <a:rPr lang="en-US" sz="2800" b="1" dirty="0">
                <a:solidFill>
                  <a:srgbClr val="FF7A30"/>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6254496" y="1828800"/>
            <a:ext cx="2514600" cy="2651760"/>
          </a:xfrm>
          <a:prstGeom prst="roundRect">
            <a:avLst>
              <a:gd name="adj" fmla="val 3636"/>
            </a:avLst>
          </a:prstGeom>
          <a:solidFill>
            <a:srgbClr val="EEF0F5"/>
          </a:solidFill>
          <a:ln w="12700">
            <a:solidFill>
              <a:srgbClr val="EEF0F5"/>
            </a:solidFill>
            <a:prstDash val="solid"/>
          </a:ln>
        </p:spPr>
      </p:sp>
      <p:sp>
        <p:nvSpPr>
          <p:cNvPr id="12" name="Text 10"/>
          <p:cNvSpPr txBox="1"/>
          <p:nvPr/>
        </p:nvSpPr>
        <p:spPr>
          <a:xfrm>
            <a:off x="6437376" y="2057400"/>
            <a:ext cx="2148840" cy="548640"/>
          </a:xfrm>
          <a:prstGeom prst="rect">
            <a:avLst/>
          </a:prstGeom>
          <a:noFill/>
          <a:ln/>
        </p:spPr>
        <p:txBody>
          <a:bodyPr wrap="square" lIns="0" tIns="0" rIns="0" bIns="0" rtlCol="0" anchor="ctr"/>
          <a:lstStyle/>
          <a:p>
            <a:pPr indent="0" marL="0">
              <a:buNone/>
            </a:pPr>
            <a:r>
              <a:rPr lang="en-US" sz="2200" b="1" dirty="0">
                <a:solidFill>
                  <a:srgbClr val="1C2440"/>
                </a:solidFill>
                <a:latin typeface="Cambria" pitchFamily="34" charset="0"/>
                <a:ea typeface="Cambria" pitchFamily="34" charset="-122"/>
                <a:cs typeface="Cambria" pitchFamily="34" charset="-120"/>
              </a:rPr>
              <a:t>Rédiger</a:t>
            </a:r>
            <a:endParaRPr lang="en-US" sz="2200" dirty="0"/>
          </a:p>
        </p:txBody>
      </p:sp>
      <p:sp>
        <p:nvSpPr>
          <p:cNvPr id="13" name="Text 11"/>
          <p:cNvSpPr txBox="1"/>
          <p:nvPr/>
        </p:nvSpPr>
        <p:spPr>
          <a:xfrm>
            <a:off x="6437376" y="2697480"/>
            <a:ext cx="2148840" cy="164592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Plan type, blocs juridiques sourcés, repères [[…]] dans votre texte</a:t>
            </a:r>
            <a:endParaRPr lang="en-US" sz="1500" dirty="0"/>
          </a:p>
        </p:txBody>
      </p:sp>
      <p:sp>
        <p:nvSpPr>
          <p:cNvPr id="14" name="Text 12"/>
          <p:cNvSpPr txBox="1"/>
          <p:nvPr/>
        </p:nvSpPr>
        <p:spPr>
          <a:xfrm>
            <a:off x="8769096" y="2834640"/>
            <a:ext cx="384048" cy="548640"/>
          </a:xfrm>
          <a:prstGeom prst="rect">
            <a:avLst/>
          </a:prstGeom>
          <a:noFill/>
          <a:ln/>
        </p:spPr>
        <p:txBody>
          <a:bodyPr wrap="square" lIns="0" tIns="0" rIns="0" bIns="0" rtlCol="0" anchor="ctr"/>
          <a:lstStyle/>
          <a:p>
            <a:pPr algn="ctr" indent="0" marL="0">
              <a:buNone/>
            </a:pPr>
            <a:r>
              <a:rPr lang="en-US" sz="2800" b="1" dirty="0">
                <a:solidFill>
                  <a:srgbClr val="FF7A30"/>
                </a:solidFill>
                <a:latin typeface="Calibri" pitchFamily="34" charset="0"/>
                <a:ea typeface="Calibri" pitchFamily="34" charset="-122"/>
                <a:cs typeface="Calibri" pitchFamily="34" charset="-120"/>
              </a:rPr>
              <a:t>→</a:t>
            </a:r>
            <a:endParaRPr lang="en-US" sz="2800" dirty="0"/>
          </a:p>
        </p:txBody>
      </p:sp>
      <p:sp>
        <p:nvSpPr>
          <p:cNvPr id="15" name="Shape 13"/>
          <p:cNvSpPr/>
          <p:nvPr/>
        </p:nvSpPr>
        <p:spPr>
          <a:xfrm>
            <a:off x="9153144" y="1828800"/>
            <a:ext cx="2514600" cy="2651760"/>
          </a:xfrm>
          <a:prstGeom prst="roundRect">
            <a:avLst>
              <a:gd name="adj" fmla="val 3636"/>
            </a:avLst>
          </a:prstGeom>
          <a:solidFill>
            <a:srgbClr val="1C2440"/>
          </a:solidFill>
          <a:ln w="12700">
            <a:solidFill>
              <a:srgbClr val="1C2440"/>
            </a:solidFill>
            <a:prstDash val="solid"/>
          </a:ln>
        </p:spPr>
      </p:sp>
      <p:sp>
        <p:nvSpPr>
          <p:cNvPr id="16" name="Text 14"/>
          <p:cNvSpPr txBox="1"/>
          <p:nvPr/>
        </p:nvSpPr>
        <p:spPr>
          <a:xfrm>
            <a:off x="9336024" y="2057400"/>
            <a:ext cx="2148840" cy="548640"/>
          </a:xfrm>
          <a:prstGeom prst="rect">
            <a:avLst/>
          </a:prstGeom>
          <a:noFill/>
          <a:ln/>
        </p:spPr>
        <p:txBody>
          <a:bodyPr wrap="square" lIns="0" tIns="0" rIns="0" bIns="0" rtlCol="0" anchor="ctr"/>
          <a:lstStyle/>
          <a:p>
            <a:pPr indent="0" marL="0">
              <a:buNone/>
            </a:pPr>
            <a:r>
              <a:rPr lang="en-US" sz="2200" b="1" dirty="0">
                <a:solidFill>
                  <a:srgbClr val="FF7A30"/>
                </a:solidFill>
                <a:latin typeface="Cambria" pitchFamily="34" charset="0"/>
                <a:ea typeface="Cambria" pitchFamily="34" charset="-122"/>
                <a:cs typeface="Cambria" pitchFamily="34" charset="-120"/>
              </a:rPr>
              <a:t>Générer</a:t>
            </a:r>
            <a:endParaRPr lang="en-US" sz="2200" dirty="0"/>
          </a:p>
        </p:txBody>
      </p:sp>
      <p:sp>
        <p:nvSpPr>
          <p:cNvPr id="17" name="Text 15"/>
          <p:cNvSpPr txBox="1"/>
          <p:nvPr/>
        </p:nvSpPr>
        <p:spPr>
          <a:xfrm>
            <a:off x="9336024" y="2697480"/>
            <a:ext cx="2148840" cy="1645920"/>
          </a:xfrm>
          <a:prstGeom prst="rect">
            <a:avLst/>
          </a:prstGeom>
          <a:noFill/>
          <a:ln/>
        </p:spPr>
        <p:txBody>
          <a:bodyPr wrap="square" lIns="0" tIns="0" rIns="0" bIns="0" rtlCol="0" anchor="t"/>
          <a:lstStyle/>
          <a:p>
            <a:pPr indent="0" marL="0">
              <a:buNone/>
            </a:pPr>
            <a:r>
              <a:rPr lang="en-US" sz="1500" dirty="0">
                <a:solidFill>
                  <a:srgbClr val="F6F2E8"/>
                </a:solidFill>
                <a:latin typeface="Calibri" pitchFamily="34" charset="0"/>
                <a:ea typeface="Calibri" pitchFamily="34" charset="-122"/>
                <a:cs typeface="Calibri" pitchFamily="34" charset="-120"/>
              </a:rPr>
              <a:t>Notes de bas de page, index et PDF des annexes numérotées</a:t>
            </a:r>
            <a:endParaRPr lang="en-US" sz="1500" dirty="0"/>
          </a:p>
        </p:txBody>
      </p:sp>
      <p:sp>
        <p:nvSpPr>
          <p:cNvPr id="18" name="Text 16"/>
          <p:cNvSpPr txBox="1"/>
          <p:nvPr/>
        </p:nvSpPr>
        <p:spPr>
          <a:xfrm>
            <a:off x="457200" y="4937760"/>
            <a:ext cx="11247120" cy="731520"/>
          </a:xfrm>
          <a:prstGeom prst="rect">
            <a:avLst/>
          </a:prstGeom>
          <a:noFill/>
          <a:ln/>
        </p:spPr>
        <p:txBody>
          <a:bodyPr wrap="square" lIns="0" tIns="0" rIns="0" bIns="0" rtlCol="0" anchor="ctr"/>
          <a:lstStyle/>
          <a:p>
            <a:pPr indent="0" marL="0">
              <a:buNone/>
            </a:pPr>
            <a:r>
              <a:rPr lang="en-US" sz="1600" i="1" dirty="0">
                <a:solidFill>
                  <a:srgbClr val="5B6170"/>
                </a:solidFill>
                <a:latin typeface="Calibri" pitchFamily="34" charset="0"/>
                <a:ea typeface="Calibri" pitchFamily="34" charset="-122"/>
                <a:cs typeface="Calibri" pitchFamily="34" charset="-120"/>
              </a:rPr>
              <a:t>Tout reste sur votre ordinateur : pas de compte, pas de cloud, pas de télémétrie. Le programme ne lit que les sites publics que vous lui demandez de lire.</a:t>
            </a:r>
            <a:endParaRPr lang="en-US" sz="1600" dirty="0"/>
          </a:p>
        </p:txBody>
      </p:sp>
      <p:sp>
        <p:nvSpPr>
          <p:cNvPr id="19" name="Text 17"/>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Le kit de démo : ce qu’il contient</a:t>
            </a:r>
            <a:endParaRPr lang="en-US" sz="3000" dirty="0"/>
          </a:p>
        </p:txBody>
      </p:sp>
      <p:sp>
        <p:nvSpPr>
          <p:cNvPr id="3" name="Shape 1"/>
          <p:cNvSpPr/>
          <p:nvPr/>
        </p:nvSpPr>
        <p:spPr>
          <a:xfrm>
            <a:off x="457200" y="1280160"/>
            <a:ext cx="6035040" cy="4846320"/>
          </a:xfrm>
          <a:prstGeom prst="roundRect">
            <a:avLst>
              <a:gd name="adj" fmla="val 1132"/>
            </a:avLst>
          </a:prstGeom>
          <a:solidFill>
            <a:srgbClr val="1E2026"/>
          </a:solidFill>
          <a:ln w="12700">
            <a:solidFill>
              <a:srgbClr val="1E2026"/>
            </a:solidFill>
            <a:prstDash val="solid"/>
          </a:ln>
        </p:spPr>
      </p:sp>
      <p:sp>
        <p:nvSpPr>
          <p:cNvPr id="4" name="Text 2"/>
          <p:cNvSpPr txBox="1"/>
          <p:nvPr/>
        </p:nvSpPr>
        <p:spPr>
          <a:xfrm>
            <a:off x="640080" y="1353312"/>
            <a:ext cx="5669280" cy="4700016"/>
          </a:xfrm>
          <a:prstGeom prst="rect">
            <a:avLst/>
          </a:prstGeom>
          <a:noFill/>
          <a:ln/>
        </p:spPr>
        <p:txBody>
          <a:bodyPr wrap="square" lIns="0" tIns="0" rIns="0" bIns="0" rtlCol="0" anchor="ctr"/>
          <a:lstStyle/>
          <a:p>
            <a:pPr indent="0" marL="0">
              <a:buNone/>
            </a:pPr>
            <a:r>
              <a:rPr lang="en-US" sz="1200" dirty="0">
                <a:solidFill>
                  <a:srgbClr val="E8EAF0"/>
                </a:solidFill>
                <a:latin typeface="Courier New" pitchFamily="34" charset="0"/>
                <a:ea typeface="Courier New" pitchFamily="34" charset="-122"/>
                <a:cs typeface="Courier New" pitchFamily="34" charset="-120"/>
              </a:rPr>
              <a:t>kit_de_demo/</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LISEZ-MOI_KIT.md        démarrage en 3 étapes</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GUIDE_DEMO.md           déroulé, phrases, FAQ</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Presentation_Probasile.pptx</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Installation_Probasile.pptx</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dossier_demo/           « Dossier de base »</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Indonésie (IDN)/</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00_Pieces_du_dossier/  4 pièces fictives</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01_ONU_organes_de_traites/</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02_Ratifications/</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Redaction/Texte_demo.docx (.odt)</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sources.csv</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exemples/               à copier-coller</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resultats_attendus/     ce que l’on doit obtenir</a:t>
            </a:r>
            <a:endParaRPr lang="en-US" sz="1200" dirty="0"/>
          </a:p>
          <a:p>
            <a:pPr indent="0" marL="0">
              <a:buNone/>
            </a:pPr>
            <a:r>
              <a:rPr lang="en-US" sz="1200" dirty="0">
                <a:solidFill>
                  <a:srgbClr val="E8EAF0"/>
                </a:solidFill>
                <a:latin typeface="Courier New" pitchFamily="34" charset="0"/>
                <a:ea typeface="Courier New" pitchFamily="34" charset="-122"/>
                <a:cs typeface="Courier New" pitchFamily="34" charset="-120"/>
              </a:rPr>
              <a:t>  captures/               images de ce diaporama</a:t>
            </a:r>
            <a:endParaRPr lang="en-US" sz="1200" dirty="0"/>
          </a:p>
        </p:txBody>
      </p:sp>
      <p:sp>
        <p:nvSpPr>
          <p:cNvPr id="5" name="Shape 3"/>
          <p:cNvSpPr/>
          <p:nvPr/>
        </p:nvSpPr>
        <p:spPr>
          <a:xfrm>
            <a:off x="6858000" y="1280160"/>
            <a:ext cx="4873752" cy="2103120"/>
          </a:xfrm>
          <a:prstGeom prst="roundRect">
            <a:avLst>
              <a:gd name="adj" fmla="val 3478"/>
            </a:avLst>
          </a:prstGeom>
          <a:solidFill>
            <a:srgbClr val="FFF1E8"/>
          </a:solidFill>
          <a:ln w="12700">
            <a:solidFill>
              <a:srgbClr val="FFF1E8"/>
            </a:solidFill>
            <a:prstDash val="solid"/>
          </a:ln>
        </p:spPr>
      </p:sp>
      <p:sp>
        <p:nvSpPr>
          <p:cNvPr id="6" name="Text 4"/>
          <p:cNvSpPr txBox="1"/>
          <p:nvPr/>
        </p:nvSpPr>
        <p:spPr>
          <a:xfrm>
            <a:off x="7040880" y="1371600"/>
            <a:ext cx="4507992" cy="1920240"/>
          </a:xfrm>
          <a:prstGeom prst="rect">
            <a:avLst/>
          </a:prstGeom>
          <a:noFill/>
          <a:ln/>
        </p:spPr>
        <p:txBody>
          <a:bodyPr wrap="square" lIns="0" tIns="0" rIns="0" bIns="0" rtlCol="0" anchor="ctr"/>
          <a:lstStyle/>
          <a:p>
            <a:pPr indent="0" marL="0">
              <a:buNone/>
            </a:pPr>
            <a:r>
              <a:rPr lang="en-US" sz="1500" dirty="0">
                <a:solidFill>
                  <a:srgbClr val="222630"/>
                </a:solidFill>
                <a:latin typeface="Calibri" pitchFamily="34" charset="0"/>
                <a:ea typeface="Calibri" pitchFamily="34" charset="-122"/>
                <a:cs typeface="Calibri" pitchFamily="34" charset="-120"/>
              </a:rPr>
              <a:t>Tout est fictif : Madame A. Exemple, son fils B. Exemple, C. Témoin, Dr D. Exemple, l’Athénée Exemple. Les pièces portent la mention « document fictif » ou « spécimen ».</a:t>
            </a:r>
            <a:endParaRPr lang="en-US" sz="1500" dirty="0"/>
          </a:p>
        </p:txBody>
      </p:sp>
      <p:sp>
        <p:nvSpPr>
          <p:cNvPr id="7" name="Shape 5"/>
          <p:cNvSpPr/>
          <p:nvPr/>
        </p:nvSpPr>
        <p:spPr>
          <a:xfrm>
            <a:off x="6858000" y="3611880"/>
            <a:ext cx="4873752" cy="1188720"/>
          </a:xfrm>
          <a:prstGeom prst="roundRect">
            <a:avLst>
              <a:gd name="adj" fmla="val 6154"/>
            </a:avLst>
          </a:prstGeom>
          <a:solidFill>
            <a:srgbClr val="EEF0F5"/>
          </a:solidFill>
          <a:ln w="12700">
            <a:solidFill>
              <a:srgbClr val="EEF0F5"/>
            </a:solidFill>
            <a:prstDash val="solid"/>
          </a:ln>
        </p:spPr>
      </p:sp>
      <p:sp>
        <p:nvSpPr>
          <p:cNvPr id="8" name="Text 6"/>
          <p:cNvSpPr txBox="1"/>
          <p:nvPr/>
        </p:nvSpPr>
        <p:spPr>
          <a:xfrm>
            <a:off x="7040880" y="3703320"/>
            <a:ext cx="4507992" cy="1005840"/>
          </a:xfrm>
          <a:prstGeom prst="rect">
            <a:avLst/>
          </a:prstGeom>
          <a:noFill/>
          <a:ln/>
        </p:spPr>
        <p:txBody>
          <a:bodyPr wrap="square" lIns="0" tIns="0" rIns="0" bIns="0" rtlCol="0" anchor="ctr"/>
          <a:lstStyle/>
          <a:p>
            <a:pPr indent="0" marL="0">
              <a:buNone/>
            </a:pPr>
            <a:r>
              <a:rPr lang="en-US" sz="1500" dirty="0">
                <a:solidFill>
                  <a:srgbClr val="222630"/>
                </a:solidFill>
                <a:latin typeface="Calibri" pitchFamily="34" charset="0"/>
                <a:ea typeface="Calibri" pitchFamily="34" charset="-122"/>
                <a:cs typeface="Calibri" pitchFamily="34" charset="-120"/>
              </a:rPr>
              <a:t>Les sources ONU de l’Indonésie sont partielles : elles servent d’exemple. Pour un vrai dossier, refaites la collecte.</a:t>
            </a:r>
            <a:endParaRPr lang="en-US" sz="1500" dirty="0"/>
          </a:p>
        </p:txBody>
      </p:sp>
      <p:sp>
        <p:nvSpPr>
          <p:cNvPr id="9" name="Shape 7"/>
          <p:cNvSpPr/>
          <p:nvPr/>
        </p:nvSpPr>
        <p:spPr>
          <a:xfrm>
            <a:off x="6858000" y="5029200"/>
            <a:ext cx="4873752" cy="1097280"/>
          </a:xfrm>
          <a:prstGeom prst="roundRect">
            <a:avLst>
              <a:gd name="adj" fmla="val 6667"/>
            </a:avLst>
          </a:prstGeom>
          <a:solidFill>
            <a:srgbClr val="1C2440"/>
          </a:solidFill>
          <a:ln w="12700">
            <a:solidFill>
              <a:srgbClr val="1C2440"/>
            </a:solidFill>
            <a:prstDash val="solid"/>
          </a:ln>
        </p:spPr>
      </p:sp>
      <p:sp>
        <p:nvSpPr>
          <p:cNvPr id="10" name="Text 8"/>
          <p:cNvSpPr txBox="1"/>
          <p:nvPr/>
        </p:nvSpPr>
        <p:spPr>
          <a:xfrm>
            <a:off x="7040880" y="5120640"/>
            <a:ext cx="4507992" cy="914400"/>
          </a:xfrm>
          <a:prstGeom prst="rect">
            <a:avLst/>
          </a:prstGeom>
          <a:noFill/>
          <a:ln/>
        </p:spPr>
        <p:txBody>
          <a:bodyPr wrap="square" lIns="0" tIns="0" rIns="0" bIns="0" rtlCol="0" anchor="ctr"/>
          <a:lstStyle/>
          <a:p>
            <a:pPr indent="0" marL="0">
              <a:buNone/>
            </a:pPr>
            <a:r>
              <a:rPr lang="en-US" sz="1700" dirty="0">
                <a:solidFill>
                  <a:srgbClr val="F6F2E8"/>
                </a:solidFill>
                <a:latin typeface="Calibri" pitchFamily="34" charset="0"/>
                <a:ea typeface="Calibri" pitchFamily="34" charset="-122"/>
                <a:cs typeface="Calibri" pitchFamily="34" charset="-120"/>
              </a:rPr>
              <a:t>Règle d’or : ne jamais montrer un vrai dossier à l’écran.</a:t>
            </a:r>
            <a:endParaRPr lang="en-US" sz="1700" dirty="0"/>
          </a:p>
        </p:txBody>
      </p:sp>
      <p:sp>
        <p:nvSpPr>
          <p:cNvPr id="11" name="Text 9"/>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Préparer la démo (cinq minutes avant)</a:t>
            </a:r>
            <a:endParaRPr lang="en-US" sz="3000" dirty="0"/>
          </a:p>
        </p:txBody>
      </p:sp>
      <p:sp>
        <p:nvSpPr>
          <p:cNvPr id="3" name="Text 1"/>
          <p:cNvSpPr txBox="1"/>
          <p:nvPr/>
        </p:nvSpPr>
        <p:spPr>
          <a:xfrm>
            <a:off x="457200" y="1325880"/>
            <a:ext cx="5669280" cy="4846320"/>
          </a:xfrm>
          <a:prstGeom prst="rect">
            <a:avLst/>
          </a:prstGeom>
          <a:noFill/>
          <a:ln/>
        </p:spPr>
        <p:txBody>
          <a:bodyPr wrap="square" lIns="0" tIns="0" rIns="0" bIns="0" rtlCol="0" anchor="t"/>
          <a:lstStyle/>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Installer Probasile </a:t>
            </a:r>
            <a:pPr indent="0" marL="0">
              <a:buNone/>
            </a:pPr>
            <a:r>
              <a:rPr lang="en-US" sz="1600" dirty="0">
                <a:solidFill>
                  <a:srgbClr val="222630"/>
                </a:solidFill>
                <a:latin typeface="Calibri" pitchFamily="34" charset="0"/>
                <a:ea typeface="Calibri" pitchFamily="34" charset="-122"/>
                <a:cs typeface="Calibri" pitchFamily="34" charset="-120"/>
              </a:rPr>
              <a:t>(voir Installation_Probasile.pptx). Sous Linux, la méthode sûre est le terminal : sh installer_mac_linux.sh</a:t>
            </a:r>
            <a:endParaRPr lang="en-US" sz="1600" dirty="0"/>
          </a:p>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Copier le kit </a:t>
            </a:r>
            <a:pPr indent="0" marL="0">
              <a:buNone/>
            </a:pPr>
            <a:r>
              <a:rPr lang="en-US" sz="1600" dirty="0">
                <a:solidFill>
                  <a:srgbClr val="222630"/>
                </a:solidFill>
                <a:latin typeface="Calibri" pitchFamily="34" charset="0"/>
                <a:ea typeface="Calibri" pitchFamily="34" charset="-122"/>
                <a:cs typeface="Calibri" pitchFamily="34" charset="-120"/>
              </a:rPr>
              <a:t>dans un dossier de travail : la génération écrit ses fichiers dans Redaction, l’original reste propre.</a:t>
            </a:r>
            <a:endParaRPr lang="en-US" sz="1600" dirty="0"/>
          </a:p>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Lancer Probasile, « Choisir… » </a:t>
            </a:r>
            <a:pPr indent="0" marL="0">
              <a:buNone/>
            </a:pPr>
            <a:r>
              <a:rPr lang="en-US" sz="1600" dirty="0">
                <a:solidFill>
                  <a:srgbClr val="222630"/>
                </a:solidFill>
                <a:latin typeface="Calibri" pitchFamily="34" charset="0"/>
                <a:ea typeface="Calibri" pitchFamily="34" charset="-122"/>
                <a:cs typeface="Calibri" pitchFamily="34" charset="-120"/>
              </a:rPr>
              <a:t>le dossier dossier_demo comme « Dossier de base ».</a:t>
            </a:r>
            <a:endParaRPr lang="en-US" sz="1600" dirty="0"/>
          </a:p>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Pays : Indonésie (IDN). </a:t>
            </a:r>
            <a:pPr indent="0" marL="0">
              <a:buNone/>
            </a:pPr>
            <a:r>
              <a:rPr lang="en-US" sz="1600" dirty="0">
                <a:solidFill>
                  <a:srgbClr val="222630"/>
                </a:solidFill>
                <a:latin typeface="Calibri" pitchFamily="34" charset="0"/>
                <a:ea typeface="Calibri" pitchFamily="34" charset="-122"/>
                <a:cs typeface="Calibri" pitchFamily="34" charset="-120"/>
              </a:rPr>
              <a:t>« Dans une phrase » : « de l’Indonésie ».</a:t>
            </a:r>
            <a:endParaRPr lang="en-US" sz="1600" dirty="0"/>
          </a:p>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Ouvrir Texte_demo.docx </a:t>
            </a:r>
            <a:pPr indent="0" marL="0">
              <a:buNone/>
            </a:pPr>
            <a:r>
              <a:rPr lang="en-US" sz="1600" dirty="0">
                <a:solidFill>
                  <a:srgbClr val="222630"/>
                </a:solidFill>
                <a:latin typeface="Calibri" pitchFamily="34" charset="0"/>
                <a:ea typeface="Calibri" pitchFamily="34" charset="-122"/>
                <a:cs typeface="Calibri" pitchFamily="34" charset="-120"/>
              </a:rPr>
              <a:t>dans Word ou LibreOffice, en arrière-plan.</a:t>
            </a:r>
            <a:endParaRPr lang="en-US" sz="1600" dirty="0"/>
          </a:p>
          <a:p>
            <a:pPr indent="0" marL="0">
              <a:spcAft>
                <a:spcPts val="1000"/>
              </a:spcAft>
              <a:buNone/>
            </a:pPr>
            <a:r>
              <a:rPr lang="en-US" sz="1600" b="1" dirty="0">
                <a:solidFill>
                  <a:srgbClr val="1C2440"/>
                </a:solidFill>
                <a:latin typeface="Calibri" pitchFamily="34" charset="0"/>
                <a:ea typeface="Calibri" pitchFamily="34" charset="-122"/>
                <a:cs typeface="Calibri" pitchFamily="34" charset="-120"/>
              </a:rPr>
              <a:t>Fermer </a:t>
            </a:r>
            <a:pPr indent="0" marL="0">
              <a:buNone/>
            </a:pPr>
            <a:r>
              <a:rPr lang="en-US" sz="1600" dirty="0">
                <a:solidFill>
                  <a:srgbClr val="222630"/>
                </a:solidFill>
                <a:latin typeface="Calibri" pitchFamily="34" charset="0"/>
                <a:ea typeface="Calibri" pitchFamily="34" charset="-122"/>
                <a:cs typeface="Calibri" pitchFamily="34" charset="-120"/>
              </a:rPr>
              <a:t>courriels, notifications et explorateur montrant de vrais dossiers.</a:t>
            </a:r>
            <a:endParaRPr lang="en-US" sz="1600" dirty="0"/>
          </a:p>
        </p:txBody>
      </p:sp>
      <p:sp>
        <p:nvSpPr>
          <p:cNvPr id="4" name="Shape 2"/>
          <p:cNvSpPr/>
          <p:nvPr/>
        </p:nvSpPr>
        <p:spPr>
          <a:xfrm>
            <a:off x="6400800" y="1325880"/>
            <a:ext cx="5330952" cy="2103120"/>
          </a:xfrm>
          <a:prstGeom prst="roundRect">
            <a:avLst>
              <a:gd name="adj" fmla="val 3478"/>
            </a:avLst>
          </a:prstGeom>
          <a:solidFill>
            <a:srgbClr val="EEF0F5"/>
          </a:solidFill>
          <a:ln w="12700">
            <a:solidFill>
              <a:srgbClr val="EEF0F5"/>
            </a:solidFill>
            <a:prstDash val="solid"/>
          </a:ln>
        </p:spPr>
      </p:sp>
      <p:pic>
        <p:nvPicPr>
          <p:cNvPr id="5" name="Image 0" descr="En-tête : pays et dossier de base">    </p:cNvPr>
          <p:cNvPicPr>
            <a:picLocks noChangeAspect="1"/>
          </p:cNvPicPr>
          <p:nvPr/>
        </p:nvPicPr>
        <p:blipFill>
          <a:blip r:embed="rId1"/>
          <a:stretch>
            <a:fillRect/>
          </a:stretch>
        </p:blipFill>
        <p:spPr>
          <a:xfrm>
            <a:off x="6537960" y="2131632"/>
            <a:ext cx="5056632" cy="491617"/>
          </a:xfrm>
          <a:prstGeom prst="rect">
            <a:avLst/>
          </a:prstGeom>
        </p:spPr>
      </p:pic>
      <p:sp>
        <p:nvSpPr>
          <p:cNvPr id="6" name="Text 3"/>
          <p:cNvSpPr txBox="1"/>
          <p:nvPr/>
        </p:nvSpPr>
        <p:spPr>
          <a:xfrm>
            <a:off x="6400800" y="3566160"/>
            <a:ext cx="5330952" cy="640080"/>
          </a:xfrm>
          <a:prstGeom prst="rect">
            <a:avLst/>
          </a:prstGeom>
          <a:noFill/>
          <a:ln/>
        </p:spPr>
        <p:txBody>
          <a:bodyPr wrap="square" lIns="0" tIns="0" rIns="0" bIns="0" rtlCol="0" anchor="ctr"/>
          <a:lstStyle/>
          <a:p>
            <a:pPr indent="0" marL="0">
              <a:buNone/>
            </a:pPr>
            <a:r>
              <a:rPr lang="en-US" sz="1300" i="1" dirty="0">
                <a:solidFill>
                  <a:srgbClr val="5B6170"/>
                </a:solidFill>
                <a:latin typeface="Calibri" pitchFamily="34" charset="0"/>
                <a:ea typeface="Calibri" pitchFamily="34" charset="-122"/>
                <a:cs typeface="Calibri" pitchFamily="34" charset="-120"/>
              </a:rPr>
              <a:t>En haut de la fenêtre : le pays et le dossier de base, mémorisés d’une fois à l’autre.</a:t>
            </a:r>
            <a:endParaRPr lang="en-US" sz="1300" dirty="0"/>
          </a:p>
        </p:txBody>
      </p:sp>
      <p:sp>
        <p:nvSpPr>
          <p:cNvPr id="7" name="Shape 4"/>
          <p:cNvSpPr/>
          <p:nvPr/>
        </p:nvSpPr>
        <p:spPr>
          <a:xfrm>
            <a:off x="6400800" y="4480560"/>
            <a:ext cx="5330952" cy="1600200"/>
          </a:xfrm>
          <a:prstGeom prst="roundRect">
            <a:avLst>
              <a:gd name="adj" fmla="val 4571"/>
            </a:avLst>
          </a:prstGeom>
          <a:solidFill>
            <a:srgbClr val="FFF1E8"/>
          </a:solidFill>
          <a:ln w="12700">
            <a:solidFill>
              <a:srgbClr val="FFF1E8"/>
            </a:solidFill>
            <a:prstDash val="solid"/>
          </a:ln>
        </p:spPr>
      </p:sp>
      <p:sp>
        <p:nvSpPr>
          <p:cNvPr id="8" name="Text 5"/>
          <p:cNvSpPr txBox="1"/>
          <p:nvPr/>
        </p:nvSpPr>
        <p:spPr>
          <a:xfrm>
            <a:off x="6583680" y="4572000"/>
            <a:ext cx="4965192" cy="1417320"/>
          </a:xfrm>
          <a:prstGeom prst="rect">
            <a:avLst/>
          </a:prstGeom>
          <a:noFill/>
          <a:ln/>
        </p:spPr>
        <p:txBody>
          <a:bodyPr wrap="square" lIns="0" tIns="0" rIns="0" bIns="0" rtlCol="0" anchor="ctr"/>
          <a:lstStyle/>
          <a:p>
            <a:pPr indent="0" marL="0">
              <a:buNone/>
            </a:pPr>
            <a:r>
              <a:rPr lang="en-US" sz="1500" dirty="0">
                <a:solidFill>
                  <a:srgbClr val="222630"/>
                </a:solidFill>
                <a:latin typeface="Calibri" pitchFamily="34" charset="0"/>
                <a:ea typeface="Calibri" pitchFamily="34" charset="-122"/>
                <a:cs typeface="Calibri" pitchFamily="34" charset="-120"/>
              </a:rPr>
              <a:t>Pas de réseau dans la salle ? Toute la partie « Rédiger » fonctionne hors ligne avec le dossier du kit. Seules les collectes en direct ont besoin d’Internet.</a:t>
            </a:r>
            <a:endParaRPr lang="en-US" sz="1500" dirty="0"/>
          </a:p>
        </p:txBody>
      </p:sp>
      <p:sp>
        <p:nvSpPr>
          <p:cNvPr id="9" name="Text 6"/>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Onglet ONU : comités, rapports, ratifications</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Comités </a:t>
            </a:r>
            <a:pPr indent="0" marL="0">
              <a:buNone/>
            </a:pPr>
            <a:r>
              <a:rPr lang="en-US" sz="1500" dirty="0">
                <a:solidFill>
                  <a:srgbClr val="222630"/>
                </a:solidFill>
                <a:latin typeface="Calibri" pitchFamily="34" charset="0"/>
                <a:ea typeface="Calibri" pitchFamily="34" charset="-122"/>
                <a:cs typeface="Calibri" pitchFamily="34" charset="-120"/>
              </a:rPr>
              <a:t>à cocher (ici CCPR et CAT).</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1 : </a:t>
            </a:r>
            <a:pPr indent="0" marL="0">
              <a:buNone/>
            </a:pPr>
            <a:r>
              <a:rPr lang="en-US" sz="1500" dirty="0">
                <a:solidFill>
                  <a:srgbClr val="222630"/>
                </a:solidFill>
                <a:latin typeface="Calibri" pitchFamily="34" charset="0"/>
                <a:ea typeface="Calibri" pitchFamily="34" charset="-122"/>
                <a:cs typeface="Calibri" pitchFamily="34" charset="-120"/>
              </a:rPr>
              <a:t>observations finales, listes de points.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2 : </a:t>
            </a:r>
            <a:pPr indent="0" marL="0">
              <a:buNone/>
            </a:pPr>
            <a:r>
              <a:rPr lang="en-US" sz="1500" dirty="0">
                <a:solidFill>
                  <a:srgbClr val="222630"/>
                </a:solidFill>
                <a:latin typeface="Calibri" pitchFamily="34" charset="0"/>
                <a:ea typeface="Calibri" pitchFamily="34" charset="-122"/>
                <a:cs typeface="Calibri" pitchFamily="34" charset="-120"/>
              </a:rPr>
              <a:t>base du HCDH (état des rapports, courriers de suivi).</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3 : </a:t>
            </a:r>
            <a:pPr indent="0" marL="0">
              <a:buNone/>
            </a:pPr>
            <a:r>
              <a:rPr lang="en-US" sz="1500" dirty="0">
                <a:solidFill>
                  <a:srgbClr val="222630"/>
                </a:solidFill>
                <a:latin typeface="Calibri" pitchFamily="34" charset="0"/>
                <a:ea typeface="Calibri" pitchFamily="34" charset="-122"/>
                <a:cs typeface="Calibri" pitchFamily="34" charset="-120"/>
              </a:rPr>
              <a:t>Examen périodique universel.</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4 : </a:t>
            </a:r>
            <a:pPr indent="0" marL="0">
              <a:buNone/>
            </a:pPr>
            <a:r>
              <a:rPr lang="en-US" sz="1500" dirty="0">
                <a:solidFill>
                  <a:srgbClr val="222630"/>
                </a:solidFill>
                <a:latin typeface="Calibri" pitchFamily="34" charset="0"/>
                <a:ea typeface="Calibri" pitchFamily="34" charset="-122"/>
                <a:cs typeface="Calibri" pitchFamily="34" charset="-120"/>
              </a:rPr>
              <a:t>ratifications, réserves, plaintes individuelles.</a:t>
            </a:r>
            <a:endParaRPr lang="en-US" sz="1500" dirty="0"/>
          </a:p>
          <a:p>
            <a:pPr indent="0" marL="0">
              <a:spcAft>
                <a:spcPts val="1000"/>
              </a:spcAft>
              <a:buNone/>
            </a:pPr>
            <a:r>
              <a:rPr lang="en-US" sz="1500" dirty="0">
                <a:solidFill>
                  <a:srgbClr val="222630"/>
                </a:solidFill>
                <a:latin typeface="Calibri" pitchFamily="34" charset="0"/>
                <a:ea typeface="Calibri" pitchFamily="34" charset="-122"/>
                <a:cs typeface="Calibri" pitchFamily="34" charset="-120"/>
              </a:rPr>
              <a:t>Chaque document est téléchargé, rangé et décrit dans sources.csv avec sa date de consultation.</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Onglet ONU : comités, rapports, ratifications">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Rapports ONU, ONG, États (ReliefWeb)</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Préréglages : </a:t>
            </a:r>
            <a:pPr indent="0" marL="0">
              <a:buNone/>
            </a:pPr>
            <a:r>
              <a:rPr lang="en-US" sz="1500" dirty="0">
                <a:solidFill>
                  <a:srgbClr val="222630"/>
                </a:solidFill>
                <a:latin typeface="Calibri" pitchFamily="34" charset="0"/>
                <a:ea typeface="Calibri" pitchFamily="34" charset="-122"/>
                <a:cs typeface="Calibri" pitchFamily="34" charset="-120"/>
              </a:rPr>
              <a:t>« Droits humains (PI, OQT) » ou « Santé (9ter) ».</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Organisations suivies : </a:t>
            </a:r>
            <a:pPr indent="0" marL="0">
              <a:buNone/>
            </a:pPr>
            <a:r>
              <a:rPr lang="en-US" sz="1500" dirty="0">
                <a:solidFill>
                  <a:srgbClr val="222630"/>
                </a:solidFill>
                <a:latin typeface="Calibri" pitchFamily="34" charset="0"/>
                <a:ea typeface="Calibri" pitchFamily="34" charset="-122"/>
                <a:cs typeface="Calibri" pitchFamily="34" charset="-120"/>
              </a:rPr>
              <a:t>HCR, Amnesty, Human Rights Watch, EUAA… ; « Modifier le catalogue… » pour en ajouter.</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Filtres : </a:t>
            </a:r>
            <a:pPr indent="0" marL="0">
              <a:buNone/>
            </a:pPr>
            <a:r>
              <a:rPr lang="en-US" sz="1500" dirty="0">
                <a:solidFill>
                  <a:srgbClr val="222630"/>
                </a:solidFill>
                <a:latin typeface="Calibri" pitchFamily="34" charset="0"/>
                <a:ea typeface="Calibri" pitchFamily="34" charset="-122"/>
                <a:cs typeface="Calibri" pitchFamily="34" charset="-120"/>
              </a:rPr>
              <a:t>thème, mots-clés, langues, nombre maximal.</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 Depuis l’année » </a:t>
            </a:r>
            <a:pPr indent="0" marL="0">
              <a:buNone/>
            </a:pPr>
            <a:r>
              <a:rPr lang="en-US" sz="1500" dirty="0">
                <a:solidFill>
                  <a:srgbClr val="222630"/>
                </a:solidFill>
                <a:latin typeface="Calibri" pitchFamily="34" charset="0"/>
                <a:ea typeface="Calibri" pitchFamily="34" charset="-122"/>
                <a:cs typeface="Calibri" pitchFamily="34" charset="-120"/>
              </a:rPr>
              <a:t>(en bas) limite aux rapports récents.</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Rapports ONU, ONG, États (ReliefWeb)">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Presse et sources nationales (veille)</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Recherches Google Actualités </a:t>
            </a:r>
            <a:pPr indent="0" marL="0">
              <a:buNone/>
            </a:pPr>
            <a:r>
              <a:rPr lang="en-US" sz="1500" dirty="0">
                <a:solidFill>
                  <a:srgbClr val="222630"/>
                </a:solidFill>
                <a:latin typeface="Calibri" pitchFamily="34" charset="0"/>
                <a:ea typeface="Calibri" pitchFamily="34" charset="-122"/>
                <a:cs typeface="Calibri" pitchFamily="34" charset="-120"/>
              </a:rPr>
              <a:t>mémorisées pour chaque pays.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Exemple : </a:t>
            </a:r>
            <a:pPr indent="0" marL="0">
              <a:buNone/>
            </a:pPr>
            <a:r>
              <a:rPr lang="en-US" sz="1500" dirty="0">
                <a:solidFill>
                  <a:srgbClr val="222630"/>
                </a:solidFill>
                <a:latin typeface="Calibri" pitchFamily="34" charset="0"/>
                <a:ea typeface="Calibri" pitchFamily="34" charset="-122"/>
                <a:cs typeface="Calibri" pitchFamily="34" charset="-120"/>
              </a:rPr>
              <a:t>exemples/veille_presse_exemple.txt (déjà collé ici).</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Flux RSS </a:t>
            </a:r>
            <a:pPr indent="0" marL="0">
              <a:buNone/>
            </a:pPr>
            <a:r>
              <a:rPr lang="en-US" sz="1500" dirty="0">
                <a:solidFill>
                  <a:srgbClr val="222630"/>
                </a:solidFill>
                <a:latin typeface="Calibri" pitchFamily="34" charset="0"/>
                <a:ea typeface="Calibri" pitchFamily="34" charset="-122"/>
                <a:cs typeface="Calibri" pitchFamily="34" charset="-120"/>
              </a:rPr>
              <a:t>de sites d’ONG ou de médias.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Rien n’est téléchargé : </a:t>
            </a:r>
            <a:pPr indent="0" marL="0">
              <a:buNone/>
            </a:pPr>
            <a:r>
              <a:rPr lang="en-US" sz="1500" dirty="0">
                <a:solidFill>
                  <a:srgbClr val="222630"/>
                </a:solidFill>
                <a:latin typeface="Calibri" pitchFamily="34" charset="0"/>
                <a:ea typeface="Calibri" pitchFamily="34" charset="-122"/>
                <a:cs typeface="Calibri" pitchFamily="34" charset="-120"/>
              </a:rPr>
              <a:t>seules des fiches sont créées (titre, source, date, lien).</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Presse et sources nationales (veille)">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Jurisprudence</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C.J.U.E. : </a:t>
            </a:r>
            <a:pPr indent="0" marL="0">
              <a:buNone/>
            </a:pPr>
            <a:r>
              <a:rPr lang="en-US" sz="1500" dirty="0">
                <a:solidFill>
                  <a:srgbClr val="222630"/>
                </a:solidFill>
                <a:latin typeface="Calibri" pitchFamily="34" charset="0"/>
                <a:ea typeface="Calibri" pitchFamily="34" charset="-122"/>
                <a:cs typeface="Calibri" pitchFamily="34" charset="-120"/>
              </a:rPr>
              <a:t>arrêts qui citent un acte et un article (ici art. 61 du règlement 2024/1348, pays sûrs).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Cour eur. D.H. </a:t>
            </a:r>
            <a:pPr indent="0" marL="0">
              <a:buNone/>
            </a:pPr>
            <a:r>
              <a:rPr lang="en-US" sz="1500" dirty="0">
                <a:solidFill>
                  <a:srgbClr val="222630"/>
                </a:solidFill>
                <a:latin typeface="Calibri" pitchFamily="34" charset="0"/>
                <a:ea typeface="Calibri" pitchFamily="34" charset="-122"/>
                <a:cs typeface="Calibri" pitchFamily="34" charset="-120"/>
              </a:rPr>
              <a:t>(HUDOC) et Cour constitutionnelle.</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4 : </a:t>
            </a:r>
            <a:pPr indent="0" marL="0">
              <a:buNone/>
            </a:pPr>
            <a:r>
              <a:rPr lang="en-US" sz="1500" dirty="0">
                <a:solidFill>
                  <a:srgbClr val="222630"/>
                </a:solidFill>
                <a:latin typeface="Calibri" pitchFamily="34" charset="0"/>
                <a:ea typeface="Calibri" pitchFamily="34" charset="-122"/>
                <a:cs typeface="Calibri" pitchFamily="34" charset="-120"/>
              </a:rPr>
              <a:t>import par référence – exemples/references_a_importer_exemple.txt.</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Cadre 6 « Vos sources » : </a:t>
            </a:r>
            <a:pPr indent="0" marL="0">
              <a:buNone/>
            </a:pPr>
            <a:r>
              <a:rPr lang="en-US" sz="1500" dirty="0">
                <a:solidFill>
                  <a:srgbClr val="222630"/>
                </a:solidFill>
                <a:latin typeface="Calibri" pitchFamily="34" charset="0"/>
                <a:ea typeface="Calibri" pitchFamily="34" charset="-122"/>
                <a:cs typeface="Calibri" pitchFamily="34" charset="-120"/>
              </a:rPr>
              <a:t>le fichier sources_jurisprudence.csv du kit ajoute Eurodac, Refworld et EDAL.</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Jurisprudence">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Importer ce qu’on a trouvé ailleurs</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Fichiers : </a:t>
            </a:r>
            <a:pPr indent="0" marL="0">
              <a:buNone/>
            </a:pPr>
            <a:r>
              <a:rPr lang="en-US" sz="1500" dirty="0">
                <a:solidFill>
                  <a:srgbClr val="222630"/>
                </a:solidFill>
                <a:latin typeface="Calibri" pitchFamily="34" charset="0"/>
                <a:ea typeface="Calibri" pitchFamily="34" charset="-122"/>
                <a:cs typeface="Calibri" pitchFamily="34" charset="-120"/>
              </a:rPr>
              <a:t>PDF, Word, flux RSS enregistrés.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Liens : </a:t>
            </a:r>
            <a:pPr indent="0" marL="0">
              <a:buNone/>
            </a:pPr>
            <a:r>
              <a:rPr lang="en-US" sz="1500" dirty="0">
                <a:solidFill>
                  <a:srgbClr val="222630"/>
                </a:solidFill>
                <a:latin typeface="Calibri" pitchFamily="34" charset="0"/>
                <a:ea typeface="Calibri" pitchFamily="34" charset="-122"/>
                <a:cs typeface="Calibri" pitchFamily="34" charset="-120"/>
              </a:rPr>
              <a:t>un par ligne.</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Reconnus automatiquement : </a:t>
            </a:r>
            <a:pPr indent="0" marL="0">
              <a:buNone/>
            </a:pPr>
            <a:r>
              <a:rPr lang="en-US" sz="1500" dirty="0">
                <a:solidFill>
                  <a:srgbClr val="222630"/>
                </a:solidFill>
                <a:latin typeface="Calibri" pitchFamily="34" charset="0"/>
                <a:ea typeface="Calibri" pitchFamily="34" charset="-122"/>
                <a:cs typeface="Calibri" pitchFamily="34" charset="-120"/>
              </a:rPr>
              <a:t>arrêts, lettres des rapporteurs spéciaux…</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Exemple : </a:t>
            </a:r>
            <a:pPr indent="0" marL="0">
              <a:buNone/>
            </a:pPr>
            <a:r>
              <a:rPr lang="en-US" sz="1500" dirty="0">
                <a:solidFill>
                  <a:srgbClr val="222630"/>
                </a:solidFill>
                <a:latin typeface="Calibri" pitchFamily="34" charset="0"/>
                <a:ea typeface="Calibri" pitchFamily="34" charset="-122"/>
                <a:cs typeface="Calibri" pitchFamily="34" charset="-120"/>
              </a:rPr>
              <a:t>exemples/Rapport_ONG_FICTIF_2025.pdf, puis vérifier l’auteur et le titre dans « Gérer… ».</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Importer ce qu’on a trouvé ailleurs">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2440"/>
        </a:solidFill>
      </p:bgPr>
    </p:bg>
    <p:spTree>
      <p:nvGrpSpPr>
        <p:cNvPr id="1" name=""/>
        <p:cNvGrpSpPr/>
        <p:nvPr/>
      </p:nvGrpSpPr>
      <p:grpSpPr>
        <a:xfrm>
          <a:off x="0" y="0"/>
          <a:ext cx="0" cy="0"/>
          <a:chOff x="0" y="0"/>
          <a:chExt cx="0" cy="0"/>
        </a:xfrm>
      </p:grpSpPr>
      <p:pic>
        <p:nvPicPr>
          <p:cNvPr id="2" name="Image 0" descr="Icône de Probasile">    </p:cNvPr>
          <p:cNvPicPr>
            <a:picLocks noChangeAspect="1"/>
          </p:cNvPicPr>
          <p:nvPr/>
        </p:nvPicPr>
        <p:blipFill>
          <a:blip r:embed="rId1"/>
          <a:stretch>
            <a:fillRect/>
          </a:stretch>
        </p:blipFill>
        <p:spPr>
          <a:xfrm>
            <a:off x="731520" y="822960"/>
            <a:ext cx="1188720" cy="1188720"/>
          </a:xfrm>
          <a:prstGeom prst="rect">
            <a:avLst/>
          </a:prstGeom>
        </p:spPr>
      </p:pic>
      <p:sp>
        <p:nvSpPr>
          <p:cNvPr id="3" name="Text 0"/>
          <p:cNvSpPr txBox="1"/>
          <p:nvPr/>
        </p:nvSpPr>
        <p:spPr>
          <a:xfrm>
            <a:off x="731520" y="2286000"/>
            <a:ext cx="10698480" cy="1188720"/>
          </a:xfrm>
          <a:prstGeom prst="rect">
            <a:avLst/>
          </a:prstGeom>
          <a:noFill/>
          <a:ln/>
        </p:spPr>
        <p:txBody>
          <a:bodyPr wrap="square" lIns="0" tIns="0" rIns="0" bIns="0" rtlCol="0" anchor="ctr"/>
          <a:lstStyle/>
          <a:p>
            <a:pPr indent="0" marL="0">
              <a:buNone/>
            </a:pPr>
            <a:r>
              <a:rPr lang="en-US" sz="4400" b="1" dirty="0">
                <a:solidFill>
                  <a:srgbClr val="F6F2E8"/>
                </a:solidFill>
                <a:latin typeface="Cambria" pitchFamily="34" charset="0"/>
                <a:ea typeface="Cambria" pitchFamily="34" charset="-122"/>
                <a:cs typeface="Cambria" pitchFamily="34" charset="-120"/>
              </a:rPr>
              <a:t>Rédiger</a:t>
            </a:r>
            <a:endParaRPr lang="en-US" sz="4400" dirty="0"/>
          </a:p>
        </p:txBody>
      </p:sp>
      <p:sp>
        <p:nvSpPr>
          <p:cNvPr id="4" name="Text 1"/>
          <p:cNvSpPr txBox="1"/>
          <p:nvPr/>
        </p:nvSpPr>
        <p:spPr>
          <a:xfrm>
            <a:off x="731520" y="3520440"/>
            <a:ext cx="10698480" cy="1097280"/>
          </a:xfrm>
          <a:prstGeom prst="rect">
            <a:avLst/>
          </a:prstGeom>
          <a:noFill/>
          <a:ln/>
        </p:spPr>
        <p:txBody>
          <a:bodyPr wrap="square" lIns="0" tIns="0" rIns="0" bIns="0" rtlCol="0" anchor="t"/>
          <a:lstStyle/>
          <a:p>
            <a:pPr indent="0" marL="0">
              <a:buNone/>
            </a:pPr>
            <a:r>
              <a:rPr lang="en-US" sz="2200" dirty="0">
                <a:solidFill>
                  <a:srgbClr val="FF7A30"/>
                </a:solidFill>
                <a:latin typeface="Calibri" pitchFamily="34" charset="0"/>
                <a:ea typeface="Calibri" pitchFamily="34" charset="-122"/>
                <a:cs typeface="Calibri" pitchFamily="34" charset="-120"/>
              </a:rPr>
              <a:t>Plan type, repères, pièces, notes et annexes</a:t>
            </a:r>
            <a:endParaRPr lang="en-US" sz="2200" dirty="0"/>
          </a:p>
        </p:txBody>
      </p:sp>
      <p:sp>
        <p:nvSpPr>
          <p:cNvPr id="5" name="Text 2"/>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400" dirty="0">
                <a:solidFill>
                  <a:srgbClr val="AAB2C8"/>
                </a:solidFill>
                <a:latin typeface="Calibri" pitchFamily="34" charset="0"/>
                <a:ea typeface="Calibri" pitchFamily="34" charset="-122"/>
                <a:cs typeface="Calibri" pitchFamily="34" charset="-120"/>
              </a:rPr>
              <a:t>Onglet « Rédaction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L’onglet Rédaction en trois cadres</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1. Créer un plan type : </a:t>
            </a:r>
            <a:pPr indent="0" marL="0">
              <a:buNone/>
            </a:pPr>
            <a:r>
              <a:rPr lang="en-US" sz="1500" dirty="0">
                <a:solidFill>
                  <a:srgbClr val="222630"/>
                </a:solidFill>
                <a:latin typeface="Calibri" pitchFamily="34" charset="0"/>
                <a:ea typeface="Calibri" pitchFamily="34" charset="-122"/>
                <a:cs typeface="Calibri" pitchFamily="34" charset="-120"/>
              </a:rPr>
              <a:t>non-délivrance d’OQT, protection internationale ou 9ter ; nom, « Qui demande ? », format Word ou LibreOffice.</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2. Repères : </a:t>
            </a:r>
            <a:pPr indent="0" marL="0">
              <a:buNone/>
            </a:pPr>
            <a:r>
              <a:rPr lang="en-US" sz="1500" dirty="0">
                <a:solidFill>
                  <a:srgbClr val="222630"/>
                </a:solidFill>
                <a:latin typeface="Calibri" pitchFamily="34" charset="0"/>
                <a:ea typeface="Calibri" pitchFamily="34" charset="-122"/>
                <a:cs typeface="Calibri" pitchFamily="34" charset="-120"/>
              </a:rPr>
              <a:t>toutes les sources du pays et les pièces du dossier, prêtes à citer.</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3. Générer : </a:t>
            </a:r>
            <a:pPr indent="0" marL="0">
              <a:buNone/>
            </a:pPr>
            <a:r>
              <a:rPr lang="en-US" sz="1500" dirty="0">
                <a:solidFill>
                  <a:srgbClr val="222630"/>
                </a:solidFill>
                <a:latin typeface="Calibri" pitchFamily="34" charset="0"/>
                <a:ea typeface="Calibri" pitchFamily="34" charset="-122"/>
                <a:cs typeface="Calibri" pitchFamily="34" charset="-120"/>
              </a:rPr>
              <a:t>notes de bas de page, index et PDF des annexes.</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L’onglet Rédaction en trois cadres">    </p:cNvPr>
          <p:cNvPicPr>
            <a:picLocks noChangeAspect="1"/>
          </p:cNvPicPr>
          <p:nvPr/>
        </p:nvPicPr>
        <p:blipFill>
          <a:blip r:embed="rId1"/>
          <a:stretch>
            <a:fillRect/>
          </a:stretch>
        </p:blipFill>
        <p:spPr>
          <a:xfrm>
            <a:off x="5453092" y="1280160"/>
            <a:ext cx="5671887"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Le plan type et les blocs juridiques</a:t>
            </a:r>
            <a:endParaRPr lang="en-US" sz="3000" dirty="0"/>
          </a:p>
        </p:txBody>
      </p:sp>
      <p:sp>
        <p:nvSpPr>
          <p:cNvPr id="5" name="Text 3"/>
          <p:cNvSpPr txBox="1"/>
          <p:nvPr/>
        </p:nvSpPr>
        <p:spPr>
          <a:xfrm>
            <a:off x="457200" y="1325880"/>
            <a:ext cx="36576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 Choisir les blocs… » : </a:t>
            </a:r>
            <a:pPr indent="0" marL="0">
              <a:buNone/>
            </a:pPr>
            <a:r>
              <a:rPr lang="en-US" sz="1500" dirty="0">
                <a:solidFill>
                  <a:srgbClr val="222630"/>
                </a:solidFill>
                <a:latin typeface="Calibri" pitchFamily="34" charset="0"/>
                <a:ea typeface="Calibri" pitchFamily="34" charset="-122"/>
                <a:cs typeface="Calibri" pitchFamily="34" charset="-120"/>
              </a:rPr>
              <a:t>passages juridiques sourcés, rangés par rubrique du plan.</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 Paragraphes calculés » : </a:t>
            </a:r>
            <a:pPr indent="0" marL="0">
              <a:buNone/>
            </a:pPr>
            <a:r>
              <a:rPr lang="en-US" sz="1500" dirty="0">
                <a:solidFill>
                  <a:srgbClr val="222630"/>
                </a:solidFill>
                <a:latin typeface="Calibri" pitchFamily="34" charset="0"/>
                <a:ea typeface="Calibri" pitchFamily="34" charset="-122"/>
                <a:cs typeface="Calibri" pitchFamily="34" charset="-120"/>
              </a:rPr>
              <a:t>ratifications, plaintes, rapports en retard, écrits à partir de la collecte.</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Résultat : </a:t>
            </a:r>
            <a:pPr indent="0" marL="0">
              <a:buNone/>
            </a:pPr>
            <a:r>
              <a:rPr lang="en-US" sz="1500" dirty="0">
                <a:solidFill>
                  <a:srgbClr val="222630"/>
                </a:solidFill>
                <a:latin typeface="Calibri" pitchFamily="34" charset="0"/>
                <a:ea typeface="Calibri" pitchFamily="34" charset="-122"/>
                <a:cs typeface="Calibri" pitchFamily="34" charset="-120"/>
              </a:rPr>
              <a:t>resultats_attendus/Plan_oqt_exemple.docx et Plan_pi_exemple.docx.</a:t>
            </a:r>
            <a:endParaRPr lang="en-US" sz="1500" dirty="0"/>
          </a:p>
        </p:txBody>
      </p:sp>
      <p:sp>
        <p:nvSpPr>
          <p:cNvPr id="6" name="Shape 4"/>
          <p:cNvSpPr/>
          <p:nvPr/>
        </p:nvSpPr>
        <p:spPr>
          <a:xfrm>
            <a:off x="4389120" y="1188720"/>
            <a:ext cx="7342632" cy="5120640"/>
          </a:xfrm>
          <a:prstGeom prst="roundRect">
            <a:avLst>
              <a:gd name="adj" fmla="val 1429"/>
            </a:avLst>
          </a:prstGeom>
          <a:solidFill>
            <a:srgbClr val="EEF0F5"/>
          </a:solidFill>
          <a:ln w="12700">
            <a:solidFill>
              <a:srgbClr val="EEF0F5"/>
            </a:solidFill>
            <a:prstDash val="solid"/>
          </a:ln>
        </p:spPr>
      </p:sp>
      <p:pic>
        <p:nvPicPr>
          <p:cNvPr id="7" name="Image 0" descr="Choisir les blocs">    </p:cNvPr>
          <p:cNvPicPr>
            <a:picLocks noChangeAspect="1"/>
          </p:cNvPicPr>
          <p:nvPr/>
        </p:nvPicPr>
        <p:blipFill>
          <a:blip r:embed="rId1"/>
          <a:stretch>
            <a:fillRect/>
          </a:stretch>
        </p:blipFill>
        <p:spPr>
          <a:xfrm>
            <a:off x="6444996" y="1280160"/>
            <a:ext cx="3230880" cy="2423160"/>
          </a:xfrm>
          <a:prstGeom prst="rect">
            <a:avLst/>
          </a:prstGeom>
        </p:spPr>
      </p:pic>
      <p:pic>
        <p:nvPicPr>
          <p:cNvPr id="8" name="Image 1" descr="Plan type créé">    </p:cNvPr>
          <p:cNvPicPr>
            <a:picLocks noChangeAspect="1"/>
          </p:cNvPicPr>
          <p:nvPr/>
        </p:nvPicPr>
        <p:blipFill>
          <a:blip r:embed="rId2"/>
          <a:stretch>
            <a:fillRect/>
          </a:stretch>
        </p:blipFill>
        <p:spPr>
          <a:xfrm>
            <a:off x="5637276" y="3794760"/>
            <a:ext cx="4846320" cy="2423160"/>
          </a:xfrm>
          <a:prstGeom prst="rect">
            <a:avLst/>
          </a:prstGeom>
        </p:spPr>
      </p:pic>
      <p:sp>
        <p:nvSpPr>
          <p:cNvPr id="9"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Les repères : une note = des doubles crochets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120640" cy="914400"/>
        </p:xfrm>
        <a:graphic>
          <a:graphicData uri="http://schemas.openxmlformats.org/drawingml/2006/table">
            <a:tbl>
              <a:tblPr/>
              <a:tblGrid>
                <a:gridCol w="2606040"/>
                <a:gridCol w="2514600"/>
              </a:tblGrid>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[[CCPR/C/IDN/CO/2, §24]]</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document collecté, avec sa précision</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[[LOI1980, art. 74/13]]</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texte de référence (jamais annexé)</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[[A ; B]]</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plusieurs sources dans une même note</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[[PIECE 01_Attestation…]]</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pièce du dossier, annexée</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[[BLOC Intérêt supérieur…]]</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insère un bloc de la bibliothèque</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 texte libre]]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note écrite à la main</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C2440"/>
                          </a:solidFill>
                          <a:latin typeface="Courier New" pitchFamily="34" charset="0"/>
                          <a:ea typeface="Courier New" pitchFamily="34" charset="-122"/>
                          <a:cs typeface="Courier New" pitchFamily="34" charset="-120"/>
                        </a:rPr>
                        <a:t>[[INDEX DES ANNEXES]]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300" dirty="0">
                          <a:solidFill>
                            <a:srgbClr val="222630"/>
                          </a:solidFill>
                          <a:latin typeface="Calibri" pitchFamily="34" charset="0"/>
                          <a:ea typeface="Calibri" pitchFamily="34" charset="-122"/>
                          <a:cs typeface="Calibri" pitchFamily="34" charset="-120"/>
                        </a:rPr>
                        <a:t>place l’index</a:t>
                      </a:r>
                      <a:endParaRPr lang="en-US" sz="1300" dirty="0">
                        <a:latin typeface="Calibri" charset="0"/>
                        <a:ea typeface="Calibri" charset="0"/>
                        <a:cs typeface="Calibri" charset="0"/>
                      </a:endParaRPr>
                    </a:p>
                  </a:txBody>
                  <a:tcPr marL="54864" marR="54864" marT="54864" marB="54864"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FFFFFF"/>
                    </a:solidFill>
                  </a:tcPr>
                </a:tc>
              </a:tr>
            </a:tbl>
          </a:graphicData>
        </a:graphic>
      </p:graphicFrame>
      <p:sp>
        <p:nvSpPr>
          <p:cNvPr id="6" name="Shape 3"/>
          <p:cNvSpPr/>
          <p:nvPr/>
        </p:nvSpPr>
        <p:spPr>
          <a:xfrm>
            <a:off x="5852160" y="1188720"/>
            <a:ext cx="5879592" cy="5120640"/>
          </a:xfrm>
          <a:prstGeom prst="roundRect">
            <a:avLst>
              <a:gd name="adj" fmla="val 1429"/>
            </a:avLst>
          </a:prstGeom>
          <a:solidFill>
            <a:srgbClr val="EEF0F5"/>
          </a:solidFill>
          <a:ln w="12700">
            <a:solidFill>
              <a:srgbClr val="EEF0F5"/>
            </a:solidFill>
            <a:prstDash val="solid"/>
          </a:ln>
        </p:spPr>
      </p:sp>
      <p:pic>
        <p:nvPicPr>
          <p:cNvPr id="7" name="Image 0" descr="Gérer les repères">    </p:cNvPr>
          <p:cNvPicPr>
            <a:picLocks noChangeAspect="1"/>
          </p:cNvPicPr>
          <p:nvPr/>
        </p:nvPicPr>
        <p:blipFill>
          <a:blip r:embed="rId1"/>
          <a:stretch>
            <a:fillRect/>
          </a:stretch>
        </p:blipFill>
        <p:spPr>
          <a:xfrm>
            <a:off x="6661482" y="1280160"/>
            <a:ext cx="4260948" cy="2651760"/>
          </a:xfrm>
          <a:prstGeom prst="rect">
            <a:avLst/>
          </a:prstGeom>
        </p:spPr>
      </p:pic>
      <p:pic>
        <p:nvPicPr>
          <p:cNvPr id="8" name="Image 1" descr="Comment écrire une note">    </p:cNvPr>
          <p:cNvPicPr>
            <a:picLocks noChangeAspect="1"/>
          </p:cNvPicPr>
          <p:nvPr/>
        </p:nvPicPr>
        <p:blipFill>
          <a:blip r:embed="rId2"/>
          <a:stretch>
            <a:fillRect/>
          </a:stretch>
        </p:blipFill>
        <p:spPr>
          <a:xfrm>
            <a:off x="7452678" y="4023360"/>
            <a:ext cx="2678557" cy="2194560"/>
          </a:xfrm>
          <a:prstGeom prst="rect">
            <a:avLst/>
          </a:prstGeom>
        </p:spPr>
      </p:pic>
      <p:sp>
        <p:nvSpPr>
          <p:cNvPr id="9" name="Text 4"/>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Les pièces du dossier</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 Ajouter une pièce… » </a:t>
            </a:r>
            <a:pPr indent="0" marL="0">
              <a:buNone/>
            </a:pPr>
            <a:r>
              <a:rPr lang="en-US" sz="1500" dirty="0">
                <a:solidFill>
                  <a:srgbClr val="222630"/>
                </a:solidFill>
                <a:latin typeface="Calibri" pitchFamily="34" charset="0"/>
                <a:ea typeface="Calibri" pitchFamily="34" charset="-122"/>
                <a:cs typeface="Calibri" pitchFamily="34" charset="-120"/>
              </a:rPr>
              <a:t>copie le fichier dans 00_Pieces_du_dossier et note auteur, titre, date.</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Sans description, </a:t>
            </a:r>
            <a:pPr indent="0" marL="0">
              <a:buNone/>
            </a:pPr>
            <a:r>
              <a:rPr lang="en-US" sz="1500" dirty="0">
                <a:solidFill>
                  <a:srgbClr val="222630"/>
                </a:solidFill>
                <a:latin typeface="Calibri" pitchFamily="34" charset="0"/>
                <a:ea typeface="Calibri" pitchFamily="34" charset="-122"/>
                <a:cs typeface="Calibri" pitchFamily="34" charset="-120"/>
              </a:rPr>
              <a:t>le nom du fichier sert de titre : 03_Carte_identite_SPECIMEN est laissée ainsi exprès.</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Une pièce n’est annexée que si elle est citée ; </a:t>
            </a:r>
            <a:pPr indent="0" marL="0">
              <a:buNone/>
            </a:pPr>
            <a:r>
              <a:rPr lang="en-US" sz="1500" dirty="0">
                <a:solidFill>
                  <a:srgbClr val="222630"/>
                </a:solidFill>
                <a:latin typeface="Calibri" pitchFamily="34" charset="0"/>
                <a:ea typeface="Calibri" pitchFamily="34" charset="-122"/>
                <a:cs typeface="Calibri" pitchFamily="34" charset="-120"/>
              </a:rPr>
              <a:t>l’ordre des premières citations fait la numérotation.</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Formats : </a:t>
            </a:r>
            <a:pPr indent="0" marL="0">
              <a:buNone/>
            </a:pPr>
            <a:r>
              <a:rPr lang="en-US" sz="1500" dirty="0">
                <a:solidFill>
                  <a:srgbClr val="222630"/>
                </a:solidFill>
                <a:latin typeface="Calibri" pitchFamily="34" charset="0"/>
                <a:ea typeface="Calibri" pitchFamily="34" charset="-122"/>
                <a:cs typeface="Calibri" pitchFamily="34" charset="-120"/>
              </a:rPr>
              <a:t>PDF, Word, ODT, images (converties en page A4).</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Les pièces du dossier">    </p:cNvPr>
          <p:cNvPicPr>
            <a:picLocks noChangeAspect="1"/>
          </p:cNvPicPr>
          <p:nvPr/>
        </p:nvPicPr>
        <p:blipFill>
          <a:blip r:embed="rId1"/>
          <a:stretch>
            <a:fillRect/>
          </a:stretch>
        </p:blipFill>
        <p:spPr>
          <a:xfrm>
            <a:off x="4983480" y="1854392"/>
            <a:ext cx="6611112" cy="3789296"/>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Avant, après : Texte_demo.docx</a:t>
            </a:r>
            <a:endParaRPr lang="en-US" sz="3000" dirty="0"/>
          </a:p>
        </p:txBody>
      </p:sp>
      <p:sp>
        <p:nvSpPr>
          <p:cNvPr id="5" name="Shape 3"/>
          <p:cNvSpPr/>
          <p:nvPr/>
        </p:nvSpPr>
        <p:spPr>
          <a:xfrm>
            <a:off x="457200" y="1188720"/>
            <a:ext cx="11274552" cy="4343400"/>
          </a:xfrm>
          <a:prstGeom prst="roundRect">
            <a:avLst>
              <a:gd name="adj" fmla="val 1684"/>
            </a:avLst>
          </a:prstGeom>
          <a:solidFill>
            <a:srgbClr val="EEF0F5"/>
          </a:solidFill>
          <a:ln w="12700">
            <a:solidFill>
              <a:srgbClr val="EEF0F5"/>
            </a:solidFill>
            <a:prstDash val="solid"/>
          </a:ln>
        </p:spPr>
      </p:sp>
      <p:pic>
        <p:nvPicPr>
          <p:cNvPr id="6" name="Image 0" descr="Texte avec repères">    </p:cNvPr>
          <p:cNvPicPr>
            <a:picLocks noChangeAspect="1"/>
          </p:cNvPicPr>
          <p:nvPr/>
        </p:nvPicPr>
        <p:blipFill>
          <a:blip r:embed="rId1"/>
          <a:stretch>
            <a:fillRect/>
          </a:stretch>
        </p:blipFill>
        <p:spPr>
          <a:xfrm>
            <a:off x="548640" y="1337923"/>
            <a:ext cx="5486400" cy="4044994"/>
          </a:xfrm>
          <a:prstGeom prst="rect">
            <a:avLst/>
          </a:prstGeom>
        </p:spPr>
      </p:pic>
      <p:pic>
        <p:nvPicPr>
          <p:cNvPr id="7" name="Image 1" descr="Texte avec notes">    </p:cNvPr>
          <p:cNvPicPr>
            <a:picLocks noChangeAspect="1"/>
          </p:cNvPicPr>
          <p:nvPr/>
        </p:nvPicPr>
        <p:blipFill>
          <a:blip r:embed="rId2"/>
          <a:stretch>
            <a:fillRect/>
          </a:stretch>
        </p:blipFill>
        <p:spPr>
          <a:xfrm>
            <a:off x="6153912" y="1337923"/>
            <a:ext cx="5486400" cy="4044994"/>
          </a:xfrm>
          <a:prstGeom prst="rect">
            <a:avLst/>
          </a:prstGeom>
        </p:spPr>
      </p:pic>
      <p:sp>
        <p:nvSpPr>
          <p:cNvPr id="8" name="Text 4"/>
          <p:cNvSpPr txBox="1"/>
          <p:nvPr/>
        </p:nvSpPr>
        <p:spPr>
          <a:xfrm>
            <a:off x="457200" y="5623560"/>
            <a:ext cx="11247120" cy="777240"/>
          </a:xfrm>
          <a:prstGeom prst="rect">
            <a:avLst/>
          </a:prstGeom>
          <a:noFill/>
          <a:ln/>
        </p:spPr>
        <p:txBody>
          <a:bodyPr wrap="square" lIns="0" tIns="0" rIns="0" bIns="0" rtlCol="0" anchor="t"/>
          <a:lstStyle/>
          <a:p>
            <a:pPr indent="0" marL="0">
              <a:spcAft>
                <a:spcPts val="200"/>
              </a:spcAft>
              <a:buNone/>
            </a:pPr>
            <a:r>
              <a:rPr lang="en-US" sz="1400" b="1" dirty="0">
                <a:solidFill>
                  <a:srgbClr val="1C2440"/>
                </a:solidFill>
                <a:latin typeface="Calibri" pitchFamily="34" charset="0"/>
                <a:ea typeface="Calibri" pitchFamily="34" charset="-122"/>
                <a:cs typeface="Calibri" pitchFamily="34" charset="-120"/>
              </a:rPr>
              <a:t>17 repères → 17 notes Word, </a:t>
            </a:r>
            <a:pPr indent="0" marL="0">
              <a:buNone/>
            </a:pPr>
            <a:r>
              <a:rPr lang="en-US" sz="1400" dirty="0">
                <a:solidFill>
                  <a:srgbClr val="222630"/>
                </a:solidFill>
                <a:latin typeface="Calibri" pitchFamily="34" charset="0"/>
                <a:ea typeface="Calibri" pitchFamily="34" charset="-122"/>
                <a:cs typeface="Calibri" pitchFamily="34" charset="-120"/>
              </a:rPr>
              <a:t>référence complète à la première citation, puis Ibid. ou op.cit. ; « voir l’annexe n° X au présent courrier ».</a:t>
            </a:r>
            <a:endParaRPr lang="en-US" sz="1400" dirty="0"/>
          </a:p>
          <a:p>
            <a:pPr indent="0" marL="0">
              <a:spcAft>
                <a:spcPts val="200"/>
              </a:spcAft>
              <a:buNone/>
            </a:pPr>
            <a:r>
              <a:rPr lang="en-US" sz="1400" b="1" dirty="0">
                <a:solidFill>
                  <a:srgbClr val="1C2440"/>
                </a:solidFill>
                <a:latin typeface="Calibri" pitchFamily="34" charset="0"/>
                <a:ea typeface="Calibri" pitchFamily="34" charset="-122"/>
                <a:cs typeface="Calibri" pitchFamily="34" charset="-120"/>
              </a:rPr>
              <a:t>Votre texte d’origine n’est jamais modifié : </a:t>
            </a:r>
            <a:pPr indent="0" marL="0">
              <a:buNone/>
            </a:pPr>
            <a:r>
              <a:rPr lang="en-US" sz="1400" dirty="0">
                <a:solidFill>
                  <a:srgbClr val="222630"/>
                </a:solidFill>
                <a:latin typeface="Calibri" pitchFamily="34" charset="0"/>
                <a:ea typeface="Calibri" pitchFamily="34" charset="-122"/>
                <a:cs typeface="Calibri" pitchFamily="34" charset="-120"/>
              </a:rPr>
              <a:t>on corrige, on régénère, les numéros suivent.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11</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Générer : le rapport et le PDF des annexes</a:t>
            </a:r>
            <a:endParaRPr lang="en-US" sz="3000" dirty="0"/>
          </a:p>
        </p:txBody>
      </p:sp>
      <p:sp>
        <p:nvSpPr>
          <p:cNvPr id="5" name="Shape 3"/>
          <p:cNvSpPr/>
          <p:nvPr/>
        </p:nvSpPr>
        <p:spPr>
          <a:xfrm>
            <a:off x="457200" y="1188720"/>
            <a:ext cx="11274552" cy="3154680"/>
          </a:xfrm>
          <a:prstGeom prst="roundRect">
            <a:avLst>
              <a:gd name="adj" fmla="val 2319"/>
            </a:avLst>
          </a:prstGeom>
          <a:solidFill>
            <a:srgbClr val="EEF0F5"/>
          </a:solidFill>
          <a:ln w="12700">
            <a:solidFill>
              <a:srgbClr val="EEF0F5"/>
            </a:solidFill>
            <a:prstDash val="solid"/>
          </a:ln>
        </p:spPr>
      </p:sp>
      <p:pic>
        <p:nvPicPr>
          <p:cNvPr id="6" name="Image 0" descr="PDF des annexes">    </p:cNvPr>
          <p:cNvPicPr>
            <a:picLocks noChangeAspect="1"/>
          </p:cNvPicPr>
          <p:nvPr/>
        </p:nvPicPr>
        <p:blipFill>
          <a:blip r:embed="rId1"/>
          <a:stretch>
            <a:fillRect/>
          </a:stretch>
        </p:blipFill>
        <p:spPr>
          <a:xfrm>
            <a:off x="2239647" y="1280160"/>
            <a:ext cx="7709658" cy="2971800"/>
          </a:xfrm>
          <a:prstGeom prst="rect">
            <a:avLst/>
          </a:prstGeom>
        </p:spPr>
      </p:pic>
      <p:pic>
        <p:nvPicPr>
          <p:cNvPr id="7" name="Image 1" descr="Résultat de la génération">    </p:cNvPr>
          <p:cNvPicPr>
            <a:picLocks noChangeAspect="1"/>
          </p:cNvPicPr>
          <p:nvPr/>
        </p:nvPicPr>
        <p:blipFill>
          <a:blip r:embed="rId2"/>
          <a:stretch>
            <a:fillRect/>
          </a:stretch>
        </p:blipFill>
        <p:spPr>
          <a:xfrm>
            <a:off x="457200" y="4577163"/>
            <a:ext cx="4937760" cy="1452714"/>
          </a:xfrm>
          <a:prstGeom prst="rect">
            <a:avLst/>
          </a:prstGeom>
        </p:spPr>
      </p:pic>
      <p:sp>
        <p:nvSpPr>
          <p:cNvPr id="8" name="Text 4"/>
          <p:cNvSpPr txBox="1"/>
          <p:nvPr/>
        </p:nvSpPr>
        <p:spPr>
          <a:xfrm>
            <a:off x="5669280" y="4572000"/>
            <a:ext cx="6035040" cy="1737360"/>
          </a:xfrm>
          <a:prstGeom prst="rect">
            <a:avLst/>
          </a:prstGeom>
          <a:noFill/>
          <a:ln/>
        </p:spPr>
        <p:txBody>
          <a:bodyPr wrap="square" lIns="0" tIns="0" rIns="0" bIns="0" rtlCol="0" anchor="t"/>
          <a:lstStyle/>
          <a:p>
            <a:pPr indent="0" marL="0">
              <a:spcAft>
                <a:spcPts val="400"/>
              </a:spcAft>
              <a:buNone/>
            </a:pPr>
            <a:r>
              <a:rPr lang="en-US" sz="1400" b="1" dirty="0">
                <a:solidFill>
                  <a:srgbClr val="1C2440"/>
                </a:solidFill>
                <a:latin typeface="Calibri" pitchFamily="34" charset="0"/>
                <a:ea typeface="Calibri" pitchFamily="34" charset="-122"/>
                <a:cs typeface="Calibri" pitchFamily="34" charset="-120"/>
              </a:rPr>
              <a:t>Page de garde </a:t>
            </a:r>
            <a:pPr indent="0" marL="0">
              <a:buNone/>
            </a:pPr>
            <a:r>
              <a:rPr lang="en-US" sz="1400" dirty="0">
                <a:solidFill>
                  <a:srgbClr val="222630"/>
                </a:solidFill>
                <a:latin typeface="Calibri" pitchFamily="34" charset="0"/>
                <a:ea typeface="Calibri" pitchFamily="34" charset="-122"/>
                <a:cs typeface="Calibri" pitchFamily="34" charset="-120"/>
              </a:rPr>
              <a:t>« Annexe n° X » et tampon « Annexe n° X – p. 1/1 » sur chaque page.</a:t>
            </a:r>
            <a:endParaRPr lang="en-US" sz="1400" dirty="0"/>
          </a:p>
          <a:p>
            <a:pPr indent="0" marL="0">
              <a:spcAft>
                <a:spcPts val="400"/>
              </a:spcAft>
              <a:buNone/>
            </a:pPr>
            <a:r>
              <a:rPr lang="en-US" sz="1400" b="1" dirty="0">
                <a:solidFill>
                  <a:srgbClr val="1C2440"/>
                </a:solidFill>
                <a:latin typeface="Calibri" pitchFamily="34" charset="0"/>
                <a:ea typeface="Calibri" pitchFamily="34" charset="-122"/>
                <a:cs typeface="Calibri" pitchFamily="34" charset="-120"/>
              </a:rPr>
              <a:t>Le rapport </a:t>
            </a:r>
            <a:pPr indent="0" marL="0">
              <a:buNone/>
            </a:pPr>
            <a:r>
              <a:rPr lang="en-US" sz="1400" dirty="0">
                <a:solidFill>
                  <a:srgbClr val="222630"/>
                </a:solidFill>
                <a:latin typeface="Calibri" pitchFamily="34" charset="0"/>
                <a:ea typeface="Calibri" pitchFamily="34" charset="-122"/>
                <a:cs typeface="Calibri" pitchFamily="34" charset="-120"/>
              </a:rPr>
              <a:t>(Texte_demo_rapport.txt) liste les annexes et les problèmes : repère introuvable, conversion ratée…</a:t>
            </a:r>
            <a:endParaRPr lang="en-US" sz="1400" dirty="0"/>
          </a:p>
          <a:p>
            <a:pPr indent="0" marL="0">
              <a:spcAft>
                <a:spcPts val="400"/>
              </a:spcAft>
              <a:buNone/>
            </a:pPr>
            <a:r>
              <a:rPr lang="en-US" sz="1400" b="1" dirty="0">
                <a:solidFill>
                  <a:srgbClr val="1C2440"/>
                </a:solidFill>
                <a:latin typeface="Calibri" pitchFamily="34" charset="0"/>
                <a:ea typeface="Calibri" pitchFamily="34" charset="-122"/>
                <a:cs typeface="Calibri" pitchFamily="34" charset="-120"/>
              </a:rPr>
              <a:t>À comparer </a:t>
            </a:r>
            <a:pPr indent="0" marL="0">
              <a:buNone/>
            </a:pPr>
            <a:r>
              <a:rPr lang="en-US" sz="1400" dirty="0">
                <a:solidFill>
                  <a:srgbClr val="222630"/>
                </a:solidFill>
                <a:latin typeface="Calibri" pitchFamily="34" charset="0"/>
                <a:ea typeface="Calibri" pitchFamily="34" charset="-122"/>
                <a:cs typeface="Calibri" pitchFamily="34" charset="-120"/>
              </a:rPr>
              <a:t>avec resultats_attendus/.</a:t>
            </a:r>
            <a:endParaRPr lang="en-US" sz="1400" dirty="0"/>
          </a:p>
        </p:txBody>
      </p:sp>
      <p:sp>
        <p:nvSpPr>
          <p:cNvPr id="9"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FF7A30"/>
          </a:solidFill>
          <a:ln w="12700">
            <a:solidFill>
              <a:srgbClr val="FF7A30"/>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a:t>
            </a:r>
            <a:endParaRPr lang="en-US" sz="2000" dirty="0"/>
          </a:p>
        </p:txBody>
      </p:sp>
      <p:sp>
        <p:nvSpPr>
          <p:cNvPr id="4" name="Text 2"/>
          <p:cNvSpPr txBox="1"/>
          <p:nvPr/>
        </p:nvSpPr>
        <p:spPr>
          <a:xfrm>
            <a:off x="1188720" y="301752"/>
            <a:ext cx="1024128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Vérifier la législation et lire le bulletin</a:t>
            </a:r>
            <a:endParaRPr lang="en-US" sz="3000" dirty="0"/>
          </a:p>
        </p:txBody>
      </p:sp>
      <p:sp>
        <p:nvSpPr>
          <p:cNvPr id="5" name="Text 3"/>
          <p:cNvSpPr txBox="1"/>
          <p:nvPr/>
        </p:nvSpPr>
        <p:spPr>
          <a:xfrm>
            <a:off x="457200" y="1325880"/>
            <a:ext cx="4114800" cy="4846320"/>
          </a:xfrm>
          <a:prstGeom prst="rect">
            <a:avLst/>
          </a:prstGeom>
          <a:noFill/>
          <a:ln/>
        </p:spPr>
        <p:txBody>
          <a:bodyPr wrap="square" lIns="0" tIns="0" rIns="0" bIns="0" rtlCol="0" anchor="t"/>
          <a:lstStyle/>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Compare </a:t>
            </a:r>
            <a:pPr indent="0" marL="0">
              <a:buNone/>
            </a:pPr>
            <a:r>
              <a:rPr lang="en-US" sz="1500" dirty="0">
                <a:solidFill>
                  <a:srgbClr val="222630"/>
                </a:solidFill>
                <a:latin typeface="Calibri" pitchFamily="34" charset="0"/>
                <a:ea typeface="Calibri" pitchFamily="34" charset="-122"/>
                <a:cs typeface="Calibri" pitchFamily="34" charset="-120"/>
              </a:rPr>
              <a:t>les textes suivis (loi du 15 décembre 1980, arrêtés « pays sûrs », règlements européens) avec l’état connu.</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Signale </a:t>
            </a:r>
            <a:pPr indent="0" marL="0">
              <a:buNone/>
            </a:pPr>
            <a:r>
              <a:rPr lang="en-US" sz="1500" dirty="0">
                <a:solidFill>
                  <a:srgbClr val="222630"/>
                </a:solidFill>
                <a:latin typeface="Calibri" pitchFamily="34" charset="0"/>
                <a:ea typeface="Calibri" pitchFamily="34" charset="-122"/>
                <a:cs typeface="Calibri" pitchFamily="34" charset="-120"/>
              </a:rPr>
              <a:t>les articles modifiés et les blocs qui les citent.</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Le bulletin, </a:t>
            </a:r>
            <a:pPr indent="0" marL="0">
              <a:buNone/>
            </a:pPr>
            <a:r>
              <a:rPr lang="en-US" sz="1500" dirty="0">
                <a:solidFill>
                  <a:srgbClr val="222630"/>
                </a:solidFill>
                <a:latin typeface="Calibri" pitchFamily="34" charset="0"/>
                <a:ea typeface="Calibri" pitchFamily="34" charset="-122"/>
                <a:cs typeface="Calibri" pitchFamily="34" charset="-120"/>
              </a:rPr>
              <a:t>en français, néerlandais et allemand, explique les réformes ; il est participatif, sur GitHub.</a:t>
            </a:r>
            <a:endParaRPr lang="en-US" sz="1500" dirty="0"/>
          </a:p>
          <a:p>
            <a:pPr indent="0" marL="0">
              <a:spcAft>
                <a:spcPts val="1000"/>
              </a:spcAft>
              <a:buNone/>
            </a:pPr>
            <a:r>
              <a:rPr lang="en-US" sz="1500" b="1" dirty="0">
                <a:solidFill>
                  <a:srgbClr val="1C2440"/>
                </a:solidFill>
                <a:latin typeface="Calibri" pitchFamily="34" charset="0"/>
                <a:ea typeface="Calibri" pitchFamily="34" charset="-122"/>
                <a:cs typeface="Calibri" pitchFamily="34" charset="-120"/>
              </a:rPr>
              <a:t>Aucune conclusion juridique : </a:t>
            </a:r>
            <a:pPr indent="0" marL="0">
              <a:buNone/>
            </a:pPr>
            <a:r>
              <a:rPr lang="en-US" sz="1500" dirty="0">
                <a:solidFill>
                  <a:srgbClr val="222630"/>
                </a:solidFill>
                <a:latin typeface="Calibri" pitchFamily="34" charset="0"/>
                <a:ea typeface="Calibri" pitchFamily="34" charset="-122"/>
                <a:cs typeface="Calibri" pitchFamily="34" charset="-120"/>
              </a:rPr>
              <a:t>le programme repère, vous jugez.</a:t>
            </a:r>
            <a:endParaRPr lang="en-US" sz="1500" dirty="0"/>
          </a:p>
        </p:txBody>
      </p:sp>
      <p:sp>
        <p:nvSpPr>
          <p:cNvPr id="6" name="Shape 4"/>
          <p:cNvSpPr/>
          <p:nvPr/>
        </p:nvSpPr>
        <p:spPr>
          <a:xfrm>
            <a:off x="4846320" y="1188720"/>
            <a:ext cx="6885432" cy="5120640"/>
          </a:xfrm>
          <a:prstGeom prst="roundRect">
            <a:avLst>
              <a:gd name="adj" fmla="val 1429"/>
            </a:avLst>
          </a:prstGeom>
          <a:solidFill>
            <a:srgbClr val="EEF0F5"/>
          </a:solidFill>
          <a:ln w="12700">
            <a:solidFill>
              <a:srgbClr val="EEF0F5"/>
            </a:solidFill>
            <a:prstDash val="solid"/>
          </a:ln>
        </p:spPr>
      </p:sp>
      <p:pic>
        <p:nvPicPr>
          <p:cNvPr id="7" name="Image 0" descr="Vérifier la législation et lire le bulletin">    </p:cNvPr>
          <p:cNvPicPr>
            <a:picLocks noChangeAspect="1"/>
          </p:cNvPicPr>
          <p:nvPr/>
        </p:nvPicPr>
        <p:blipFill>
          <a:blip r:embed="rId1"/>
          <a:stretch>
            <a:fillRect/>
          </a:stretch>
        </p:blipFill>
        <p:spPr>
          <a:xfrm>
            <a:off x="5217516" y="1280160"/>
            <a:ext cx="6143040" cy="4937760"/>
          </a:xfrm>
          <a:prstGeom prst="rect">
            <a:avLst/>
          </a:prstGeom>
        </p:spPr>
      </p:pic>
      <p:sp>
        <p:nvSpPr>
          <p:cNvPr id="8" name="Text 5"/>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Déroulé conseillé en 25 minutes</a:t>
            </a:r>
            <a:endParaRPr lang="en-US" sz="3000" dirty="0"/>
          </a:p>
        </p:txBody>
      </p:sp>
      <p:sp>
        <p:nvSpPr>
          <p:cNvPr id="3" name="Shape 1"/>
          <p:cNvSpPr/>
          <p:nvPr/>
        </p:nvSpPr>
        <p:spPr>
          <a:xfrm>
            <a:off x="457200" y="1325880"/>
            <a:ext cx="914400" cy="420624"/>
          </a:xfrm>
          <a:prstGeom prst="roundRect">
            <a:avLst>
              <a:gd name="adj" fmla="val 13043"/>
            </a:avLst>
          </a:prstGeom>
          <a:solidFill>
            <a:srgbClr val="FF7A30"/>
          </a:solidFill>
          <a:ln w="12700">
            <a:solidFill>
              <a:srgbClr val="FF7A30"/>
            </a:solidFill>
            <a:prstDash val="solid"/>
          </a:ln>
        </p:spPr>
      </p:sp>
      <p:sp>
        <p:nvSpPr>
          <p:cNvPr id="4" name="Text 2"/>
          <p:cNvSpPr txBox="1"/>
          <p:nvPr/>
        </p:nvSpPr>
        <p:spPr>
          <a:xfrm>
            <a:off x="457200" y="1325880"/>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min</a:t>
            </a:r>
            <a:endParaRPr lang="en-US" sz="1400" dirty="0"/>
          </a:p>
        </p:txBody>
      </p:sp>
      <p:sp>
        <p:nvSpPr>
          <p:cNvPr id="5" name="Text 3"/>
          <p:cNvSpPr txBox="1"/>
          <p:nvPr/>
        </p:nvSpPr>
        <p:spPr>
          <a:xfrm>
            <a:off x="1554480" y="1325880"/>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Le problème</a:t>
            </a:r>
            <a:endParaRPr lang="en-US" sz="1600" dirty="0"/>
          </a:p>
        </p:txBody>
      </p:sp>
      <p:sp>
        <p:nvSpPr>
          <p:cNvPr id="6" name="Shape 4"/>
          <p:cNvSpPr/>
          <p:nvPr/>
        </p:nvSpPr>
        <p:spPr>
          <a:xfrm>
            <a:off x="457200" y="1856232"/>
            <a:ext cx="914400" cy="420624"/>
          </a:xfrm>
          <a:prstGeom prst="roundRect">
            <a:avLst>
              <a:gd name="adj" fmla="val 13043"/>
            </a:avLst>
          </a:prstGeom>
          <a:solidFill>
            <a:srgbClr val="FF7A30"/>
          </a:solidFill>
          <a:ln w="12700">
            <a:solidFill>
              <a:srgbClr val="FF7A30"/>
            </a:solidFill>
            <a:prstDash val="solid"/>
          </a:ln>
        </p:spPr>
      </p:sp>
      <p:sp>
        <p:nvSpPr>
          <p:cNvPr id="7" name="Text 5"/>
          <p:cNvSpPr txBox="1"/>
          <p:nvPr/>
        </p:nvSpPr>
        <p:spPr>
          <a:xfrm>
            <a:off x="457200" y="1856232"/>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min</a:t>
            </a:r>
            <a:endParaRPr lang="en-US" sz="1400" dirty="0"/>
          </a:p>
        </p:txBody>
      </p:sp>
      <p:sp>
        <p:nvSpPr>
          <p:cNvPr id="8" name="Text 6"/>
          <p:cNvSpPr txBox="1"/>
          <p:nvPr/>
        </p:nvSpPr>
        <p:spPr>
          <a:xfrm>
            <a:off x="1554480" y="1856232"/>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Pays et dossier</a:t>
            </a:r>
            <a:endParaRPr lang="en-US" sz="1600" dirty="0"/>
          </a:p>
        </p:txBody>
      </p:sp>
      <p:sp>
        <p:nvSpPr>
          <p:cNvPr id="9" name="Shape 7"/>
          <p:cNvSpPr/>
          <p:nvPr/>
        </p:nvSpPr>
        <p:spPr>
          <a:xfrm>
            <a:off x="457200" y="2386584"/>
            <a:ext cx="914400" cy="420624"/>
          </a:xfrm>
          <a:prstGeom prst="roundRect">
            <a:avLst>
              <a:gd name="adj" fmla="val 13043"/>
            </a:avLst>
          </a:prstGeom>
          <a:solidFill>
            <a:srgbClr val="FF7A30"/>
          </a:solidFill>
          <a:ln w="12700">
            <a:solidFill>
              <a:srgbClr val="FF7A30"/>
            </a:solidFill>
            <a:prstDash val="solid"/>
          </a:ln>
        </p:spPr>
      </p:sp>
      <p:sp>
        <p:nvSpPr>
          <p:cNvPr id="10" name="Text 8"/>
          <p:cNvSpPr txBox="1"/>
          <p:nvPr/>
        </p:nvSpPr>
        <p:spPr>
          <a:xfrm>
            <a:off x="457200" y="2386584"/>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min</a:t>
            </a:r>
            <a:endParaRPr lang="en-US" sz="1400" dirty="0"/>
          </a:p>
        </p:txBody>
      </p:sp>
      <p:sp>
        <p:nvSpPr>
          <p:cNvPr id="11" name="Text 9"/>
          <p:cNvSpPr txBox="1"/>
          <p:nvPr/>
        </p:nvSpPr>
        <p:spPr>
          <a:xfrm>
            <a:off x="1554480" y="2386584"/>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Collecte ONU en direct</a:t>
            </a:r>
            <a:endParaRPr lang="en-US" sz="1600" dirty="0"/>
          </a:p>
        </p:txBody>
      </p:sp>
      <p:sp>
        <p:nvSpPr>
          <p:cNvPr id="12" name="Shape 10"/>
          <p:cNvSpPr/>
          <p:nvPr/>
        </p:nvSpPr>
        <p:spPr>
          <a:xfrm>
            <a:off x="457200" y="2916936"/>
            <a:ext cx="914400" cy="420624"/>
          </a:xfrm>
          <a:prstGeom prst="roundRect">
            <a:avLst>
              <a:gd name="adj" fmla="val 13043"/>
            </a:avLst>
          </a:prstGeom>
          <a:solidFill>
            <a:srgbClr val="FF7A30"/>
          </a:solidFill>
          <a:ln w="12700">
            <a:solidFill>
              <a:srgbClr val="FF7A30"/>
            </a:solidFill>
            <a:prstDash val="solid"/>
          </a:ln>
        </p:spPr>
      </p:sp>
      <p:sp>
        <p:nvSpPr>
          <p:cNvPr id="13" name="Text 11"/>
          <p:cNvSpPr txBox="1"/>
          <p:nvPr/>
        </p:nvSpPr>
        <p:spPr>
          <a:xfrm>
            <a:off x="457200" y="2916936"/>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min</a:t>
            </a:r>
            <a:endParaRPr lang="en-US" sz="1400" dirty="0"/>
          </a:p>
        </p:txBody>
      </p:sp>
      <p:sp>
        <p:nvSpPr>
          <p:cNvPr id="14" name="Text 12"/>
          <p:cNvSpPr txBox="1"/>
          <p:nvPr/>
        </p:nvSpPr>
        <p:spPr>
          <a:xfrm>
            <a:off x="1554480" y="2916936"/>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Autres sources</a:t>
            </a:r>
            <a:endParaRPr lang="en-US" sz="1600" dirty="0"/>
          </a:p>
        </p:txBody>
      </p:sp>
      <p:sp>
        <p:nvSpPr>
          <p:cNvPr id="15" name="Shape 13"/>
          <p:cNvSpPr/>
          <p:nvPr/>
        </p:nvSpPr>
        <p:spPr>
          <a:xfrm>
            <a:off x="457200" y="3447288"/>
            <a:ext cx="914400" cy="420624"/>
          </a:xfrm>
          <a:prstGeom prst="roundRect">
            <a:avLst>
              <a:gd name="adj" fmla="val 13043"/>
            </a:avLst>
          </a:prstGeom>
          <a:solidFill>
            <a:srgbClr val="FF7A30"/>
          </a:solidFill>
          <a:ln w="12700">
            <a:solidFill>
              <a:srgbClr val="FF7A30"/>
            </a:solidFill>
            <a:prstDash val="solid"/>
          </a:ln>
        </p:spPr>
      </p:sp>
      <p:sp>
        <p:nvSpPr>
          <p:cNvPr id="16" name="Text 14"/>
          <p:cNvSpPr txBox="1"/>
          <p:nvPr/>
        </p:nvSpPr>
        <p:spPr>
          <a:xfrm>
            <a:off x="457200" y="3447288"/>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min</a:t>
            </a:r>
            <a:endParaRPr lang="en-US" sz="1400" dirty="0"/>
          </a:p>
        </p:txBody>
      </p:sp>
      <p:sp>
        <p:nvSpPr>
          <p:cNvPr id="17" name="Text 15"/>
          <p:cNvSpPr txBox="1"/>
          <p:nvPr/>
        </p:nvSpPr>
        <p:spPr>
          <a:xfrm>
            <a:off x="1554480" y="3447288"/>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Résultat rangé</a:t>
            </a:r>
            <a:endParaRPr lang="en-US" sz="1600" dirty="0"/>
          </a:p>
        </p:txBody>
      </p:sp>
      <p:sp>
        <p:nvSpPr>
          <p:cNvPr id="18" name="Shape 16"/>
          <p:cNvSpPr/>
          <p:nvPr/>
        </p:nvSpPr>
        <p:spPr>
          <a:xfrm>
            <a:off x="457200" y="3977640"/>
            <a:ext cx="914400" cy="420624"/>
          </a:xfrm>
          <a:prstGeom prst="roundRect">
            <a:avLst>
              <a:gd name="adj" fmla="val 13043"/>
            </a:avLst>
          </a:prstGeom>
          <a:solidFill>
            <a:srgbClr val="FF7A30"/>
          </a:solidFill>
          <a:ln w="12700">
            <a:solidFill>
              <a:srgbClr val="FF7A30"/>
            </a:solidFill>
            <a:prstDash val="solid"/>
          </a:ln>
        </p:spPr>
      </p:sp>
      <p:sp>
        <p:nvSpPr>
          <p:cNvPr id="19" name="Text 17"/>
          <p:cNvSpPr txBox="1"/>
          <p:nvPr/>
        </p:nvSpPr>
        <p:spPr>
          <a:xfrm>
            <a:off x="457200" y="3977640"/>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min</a:t>
            </a:r>
            <a:endParaRPr lang="en-US" sz="1400" dirty="0"/>
          </a:p>
        </p:txBody>
      </p:sp>
      <p:sp>
        <p:nvSpPr>
          <p:cNvPr id="20" name="Text 18"/>
          <p:cNvSpPr txBox="1"/>
          <p:nvPr/>
        </p:nvSpPr>
        <p:spPr>
          <a:xfrm>
            <a:off x="1554480" y="3977640"/>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Plan type</a:t>
            </a:r>
            <a:endParaRPr lang="en-US" sz="1600" dirty="0"/>
          </a:p>
        </p:txBody>
      </p:sp>
      <p:sp>
        <p:nvSpPr>
          <p:cNvPr id="21" name="Shape 19"/>
          <p:cNvSpPr/>
          <p:nvPr/>
        </p:nvSpPr>
        <p:spPr>
          <a:xfrm>
            <a:off x="457200" y="4507992"/>
            <a:ext cx="914400" cy="420624"/>
          </a:xfrm>
          <a:prstGeom prst="roundRect">
            <a:avLst>
              <a:gd name="adj" fmla="val 13043"/>
            </a:avLst>
          </a:prstGeom>
          <a:solidFill>
            <a:srgbClr val="FF7A30"/>
          </a:solidFill>
          <a:ln w="12700">
            <a:solidFill>
              <a:srgbClr val="FF7A30"/>
            </a:solidFill>
            <a:prstDash val="solid"/>
          </a:ln>
        </p:spPr>
      </p:sp>
      <p:sp>
        <p:nvSpPr>
          <p:cNvPr id="22" name="Text 20"/>
          <p:cNvSpPr txBox="1"/>
          <p:nvPr/>
        </p:nvSpPr>
        <p:spPr>
          <a:xfrm>
            <a:off x="457200" y="4507992"/>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min</a:t>
            </a:r>
            <a:endParaRPr lang="en-US" sz="1400" dirty="0"/>
          </a:p>
        </p:txBody>
      </p:sp>
      <p:sp>
        <p:nvSpPr>
          <p:cNvPr id="23" name="Text 21"/>
          <p:cNvSpPr txBox="1"/>
          <p:nvPr/>
        </p:nvSpPr>
        <p:spPr>
          <a:xfrm>
            <a:off x="1554480" y="4507992"/>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Notes et annexes</a:t>
            </a:r>
            <a:endParaRPr lang="en-US" sz="1600" dirty="0"/>
          </a:p>
        </p:txBody>
      </p:sp>
      <p:sp>
        <p:nvSpPr>
          <p:cNvPr id="24" name="Shape 22"/>
          <p:cNvSpPr/>
          <p:nvPr/>
        </p:nvSpPr>
        <p:spPr>
          <a:xfrm>
            <a:off x="457200" y="5038344"/>
            <a:ext cx="914400" cy="420624"/>
          </a:xfrm>
          <a:prstGeom prst="roundRect">
            <a:avLst>
              <a:gd name="adj" fmla="val 13043"/>
            </a:avLst>
          </a:prstGeom>
          <a:solidFill>
            <a:srgbClr val="FF7A30"/>
          </a:solidFill>
          <a:ln w="12700">
            <a:solidFill>
              <a:srgbClr val="FF7A30"/>
            </a:solidFill>
            <a:prstDash val="solid"/>
          </a:ln>
        </p:spPr>
      </p:sp>
      <p:sp>
        <p:nvSpPr>
          <p:cNvPr id="25" name="Text 23"/>
          <p:cNvSpPr txBox="1"/>
          <p:nvPr/>
        </p:nvSpPr>
        <p:spPr>
          <a:xfrm>
            <a:off x="457200" y="5038344"/>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min</a:t>
            </a:r>
            <a:endParaRPr lang="en-US" sz="1400" dirty="0"/>
          </a:p>
        </p:txBody>
      </p:sp>
      <p:sp>
        <p:nvSpPr>
          <p:cNvPr id="26" name="Text 24"/>
          <p:cNvSpPr txBox="1"/>
          <p:nvPr/>
        </p:nvSpPr>
        <p:spPr>
          <a:xfrm>
            <a:off x="1554480" y="5038344"/>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Pièces</a:t>
            </a:r>
            <a:endParaRPr lang="en-US" sz="1600" dirty="0"/>
          </a:p>
        </p:txBody>
      </p:sp>
      <p:sp>
        <p:nvSpPr>
          <p:cNvPr id="27" name="Shape 25"/>
          <p:cNvSpPr/>
          <p:nvPr/>
        </p:nvSpPr>
        <p:spPr>
          <a:xfrm>
            <a:off x="457200" y="5568696"/>
            <a:ext cx="914400" cy="420624"/>
          </a:xfrm>
          <a:prstGeom prst="roundRect">
            <a:avLst>
              <a:gd name="adj" fmla="val 13043"/>
            </a:avLst>
          </a:prstGeom>
          <a:solidFill>
            <a:srgbClr val="FF7A30"/>
          </a:solidFill>
          <a:ln w="12700">
            <a:solidFill>
              <a:srgbClr val="FF7A30"/>
            </a:solidFill>
            <a:prstDash val="solid"/>
          </a:ln>
        </p:spPr>
      </p:sp>
      <p:sp>
        <p:nvSpPr>
          <p:cNvPr id="28" name="Text 26"/>
          <p:cNvSpPr txBox="1"/>
          <p:nvPr/>
        </p:nvSpPr>
        <p:spPr>
          <a:xfrm>
            <a:off x="457200" y="5568696"/>
            <a:ext cx="914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min</a:t>
            </a:r>
            <a:endParaRPr lang="en-US" sz="1400" dirty="0"/>
          </a:p>
        </p:txBody>
      </p:sp>
      <p:sp>
        <p:nvSpPr>
          <p:cNvPr id="29" name="Text 27"/>
          <p:cNvSpPr txBox="1"/>
          <p:nvPr/>
        </p:nvSpPr>
        <p:spPr>
          <a:xfrm>
            <a:off x="1554480" y="5568696"/>
            <a:ext cx="4206240" cy="420624"/>
          </a:xfrm>
          <a:prstGeom prst="rect">
            <a:avLst/>
          </a:prstGeom>
          <a:noFill/>
          <a:ln/>
        </p:spPr>
        <p:txBody>
          <a:bodyPr wrap="square" lIns="0" tIns="0" rIns="0" bIns="0" rtlCol="0" anchor="ctr"/>
          <a:lstStyle/>
          <a:p>
            <a:pPr indent="0" marL="0">
              <a:buNone/>
            </a:pPr>
            <a:r>
              <a:rPr lang="en-US" sz="1600" dirty="0">
                <a:solidFill>
                  <a:srgbClr val="222630"/>
                </a:solidFill>
                <a:latin typeface="Calibri" pitchFamily="34" charset="0"/>
                <a:ea typeface="Calibri" pitchFamily="34" charset="-122"/>
                <a:cs typeface="Calibri" pitchFamily="34" charset="-120"/>
              </a:rPr>
              <a:t>Veille, bulletin, vie privée, appel</a:t>
            </a:r>
            <a:endParaRPr lang="en-US" sz="1600" dirty="0"/>
          </a:p>
        </p:txBody>
      </p:sp>
      <p:sp>
        <p:nvSpPr>
          <p:cNvPr id="30" name="Shape 28"/>
          <p:cNvSpPr/>
          <p:nvPr/>
        </p:nvSpPr>
        <p:spPr>
          <a:xfrm>
            <a:off x="6217920" y="1325880"/>
            <a:ext cx="5513832" cy="4754880"/>
          </a:xfrm>
          <a:prstGeom prst="roundRect">
            <a:avLst>
              <a:gd name="adj" fmla="val 1923"/>
            </a:avLst>
          </a:prstGeom>
          <a:solidFill>
            <a:srgbClr val="1C2440"/>
          </a:solidFill>
          <a:ln w="12700">
            <a:solidFill>
              <a:srgbClr val="1C2440"/>
            </a:solidFill>
            <a:prstDash val="solid"/>
          </a:ln>
        </p:spPr>
      </p:sp>
      <p:sp>
        <p:nvSpPr>
          <p:cNvPr id="31" name="Text 29"/>
          <p:cNvSpPr txBox="1"/>
          <p:nvPr/>
        </p:nvSpPr>
        <p:spPr>
          <a:xfrm>
            <a:off x="6492240" y="1554480"/>
            <a:ext cx="5029200" cy="457200"/>
          </a:xfrm>
          <a:prstGeom prst="rect">
            <a:avLst/>
          </a:prstGeom>
          <a:noFill/>
          <a:ln/>
        </p:spPr>
        <p:txBody>
          <a:bodyPr wrap="square" lIns="0" tIns="0" rIns="0" bIns="0" rtlCol="0" anchor="ctr"/>
          <a:lstStyle/>
          <a:p>
            <a:pPr indent="0" marL="0">
              <a:buNone/>
            </a:pPr>
            <a:r>
              <a:rPr lang="en-US" sz="2000" b="1" dirty="0">
                <a:solidFill>
                  <a:srgbClr val="FF7A30"/>
                </a:solidFill>
                <a:latin typeface="Cambria" pitchFamily="34" charset="0"/>
                <a:ea typeface="Cambria" pitchFamily="34" charset="-122"/>
                <a:cs typeface="Cambria" pitchFamily="34" charset="-120"/>
              </a:rPr>
              <a:t>Version courte : 5 minutes</a:t>
            </a:r>
            <a:endParaRPr lang="en-US" sz="2000" dirty="0"/>
          </a:p>
        </p:txBody>
      </p:sp>
      <p:sp>
        <p:nvSpPr>
          <p:cNvPr id="32" name="Text 30"/>
          <p:cNvSpPr txBox="1"/>
          <p:nvPr/>
        </p:nvSpPr>
        <p:spPr>
          <a:xfrm>
            <a:off x="6492240" y="2194560"/>
            <a:ext cx="5029200" cy="35661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700" dirty="0">
                <a:solidFill>
                  <a:srgbClr val="F6F2E8"/>
                </a:solidFill>
                <a:latin typeface="Calibri" pitchFamily="34" charset="0"/>
                <a:ea typeface="Calibri" pitchFamily="34" charset="-122"/>
                <a:cs typeface="Calibri" pitchFamily="34" charset="-120"/>
              </a:rPr>
              <a:t>Le problème en une phrase.</a:t>
            </a:r>
            <a:endParaRPr lang="en-US" sz="1700" dirty="0"/>
          </a:p>
          <a:p>
            <a:pPr marL="342900" indent="-342900">
              <a:spcAft>
                <a:spcPts val="1000"/>
              </a:spcAft>
              <a:buSzPct val="100000"/>
              <a:buFont typeface="+mj-lt"/>
              <a:buAutoNum type="arabicPeriod" startAt="1"/>
            </a:pPr>
            <a:r>
              <a:rPr lang="en-US" sz="1700" dirty="0">
                <a:solidFill>
                  <a:srgbClr val="F6F2E8"/>
                </a:solidFill>
                <a:latin typeface="Calibri" pitchFamily="34" charset="0"/>
                <a:ea typeface="Calibri" pitchFamily="34" charset="-122"/>
                <a:cs typeface="Calibri" pitchFamily="34" charset="-120"/>
              </a:rPr>
              <a:t>Le dossier rangé : sources.csv, 02_Ratifications.</a:t>
            </a:r>
            <a:endParaRPr lang="en-US" sz="1700" dirty="0"/>
          </a:p>
          <a:p>
            <a:pPr marL="342900" indent="-342900">
              <a:spcAft>
                <a:spcPts val="1000"/>
              </a:spcAft>
              <a:buSzPct val="100000"/>
              <a:buFont typeface="+mj-lt"/>
              <a:buAutoNum type="arabicPeriod" startAt="1"/>
            </a:pPr>
            <a:r>
              <a:rPr lang="en-US" sz="1700" dirty="0">
                <a:solidFill>
                  <a:srgbClr val="F6F2E8"/>
                </a:solidFill>
                <a:latin typeface="Calibri" pitchFamily="34" charset="0"/>
                <a:ea typeface="Calibri" pitchFamily="34" charset="-122"/>
                <a:cs typeface="Calibri" pitchFamily="34" charset="-120"/>
              </a:rPr>
              <a:t>Un plan Word avec un bloc accordé au féminin.</a:t>
            </a:r>
            <a:endParaRPr lang="en-US" sz="1700" dirty="0"/>
          </a:p>
          <a:p>
            <a:pPr marL="342900" indent="-342900">
              <a:spcAft>
                <a:spcPts val="1000"/>
              </a:spcAft>
              <a:buSzPct val="100000"/>
              <a:buFont typeface="+mj-lt"/>
              <a:buAutoNum type="arabicPeriod" startAt="1"/>
            </a:pPr>
            <a:r>
              <a:rPr lang="en-US" sz="1700" dirty="0">
                <a:solidFill>
                  <a:srgbClr val="F6F2E8"/>
                </a:solidFill>
                <a:latin typeface="Calibri" pitchFamily="34" charset="0"/>
                <a:ea typeface="Calibri" pitchFamily="34" charset="-122"/>
                <a:cs typeface="Calibri" pitchFamily="34" charset="-120"/>
              </a:rPr>
              <a:t>Générer Texte_demo : notes, Ibid., annexes.</a:t>
            </a:r>
            <a:endParaRPr lang="en-US" sz="1700" dirty="0"/>
          </a:p>
          <a:p>
            <a:pPr marL="342900" indent="-342900">
              <a:spcAft>
                <a:spcPts val="1000"/>
              </a:spcAft>
              <a:buSzPct val="100000"/>
              <a:buFont typeface="+mj-lt"/>
              <a:buAutoNum type="arabicPeriod" startAt="1"/>
            </a:pPr>
            <a:r>
              <a:rPr lang="en-US" sz="1700" dirty="0">
                <a:solidFill>
                  <a:srgbClr val="F6F2E8"/>
                </a:solidFill>
                <a:latin typeface="Calibri" pitchFamily="34" charset="0"/>
                <a:ea typeface="Calibri" pitchFamily="34" charset="-122"/>
                <a:cs typeface="Calibri" pitchFamily="34" charset="-120"/>
              </a:rPr>
              <a:t>Vie privée, gratuit, libre, appel à l’aide.</a:t>
            </a:r>
            <a:endParaRPr lang="en-US" sz="1700" dirty="0"/>
          </a:p>
        </p:txBody>
      </p:sp>
      <p:sp>
        <p:nvSpPr>
          <p:cNvPr id="33" name="Text 31"/>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301752"/>
            <a:ext cx="10972800" cy="731520"/>
          </a:xfrm>
          <a:prstGeom prst="rect">
            <a:avLst/>
          </a:prstGeom>
          <a:noFill/>
          <a:ln/>
        </p:spPr>
        <p:txBody>
          <a:bodyPr wrap="square" lIns="0" tIns="0" rIns="0" bIns="0" rtlCol="0" anchor="ctr"/>
          <a:lstStyle/>
          <a:p>
            <a:pPr indent="0" marL="0">
              <a:buNone/>
            </a:pPr>
            <a:r>
              <a:rPr lang="en-US" sz="3000" b="1" dirty="0">
                <a:solidFill>
                  <a:srgbClr val="1C2440"/>
                </a:solidFill>
                <a:latin typeface="Cambria" pitchFamily="34" charset="0"/>
                <a:ea typeface="Cambria" pitchFamily="34" charset="-122"/>
                <a:cs typeface="Cambria" pitchFamily="34" charset="-120"/>
              </a:rPr>
              <a:t>Limites et précautions à dire honnêtement</a:t>
            </a:r>
            <a:endParaRPr lang="en-US" sz="3000" dirty="0"/>
          </a:p>
        </p:txBody>
      </p:sp>
      <p:sp>
        <p:nvSpPr>
          <p:cNvPr id="3" name="Shape 1"/>
          <p:cNvSpPr/>
          <p:nvPr/>
        </p:nvSpPr>
        <p:spPr>
          <a:xfrm>
            <a:off x="457200" y="1371600"/>
            <a:ext cx="5486400" cy="2103120"/>
          </a:xfrm>
          <a:prstGeom prst="roundRect">
            <a:avLst>
              <a:gd name="adj" fmla="val 4348"/>
            </a:avLst>
          </a:prstGeom>
          <a:solidFill>
            <a:srgbClr val="EEF0F5"/>
          </a:solidFill>
          <a:ln w="12700">
            <a:solidFill>
              <a:srgbClr val="EEF0F5"/>
            </a:solidFill>
            <a:prstDash val="solid"/>
          </a:ln>
        </p:spPr>
      </p:sp>
      <p:sp>
        <p:nvSpPr>
          <p:cNvPr id="4" name="Text 2"/>
          <p:cNvSpPr txBox="1"/>
          <p:nvPr/>
        </p:nvSpPr>
        <p:spPr>
          <a:xfrm>
            <a:off x="731520" y="1554480"/>
            <a:ext cx="4937760" cy="45720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Relire</a:t>
            </a:r>
            <a:endParaRPr lang="en-US" sz="2000" dirty="0"/>
          </a:p>
        </p:txBody>
      </p:sp>
      <p:sp>
        <p:nvSpPr>
          <p:cNvPr id="5" name="Text 3"/>
          <p:cNvSpPr txBox="1"/>
          <p:nvPr/>
        </p:nvSpPr>
        <p:spPr>
          <a:xfrm>
            <a:off x="731520" y="2103120"/>
            <a:ext cx="4937760" cy="123444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Les blocs sont sourcés et datés, mais restent des propositions : on relit et on adapte au dossier.</a:t>
            </a:r>
            <a:endParaRPr lang="en-US" sz="1500" dirty="0"/>
          </a:p>
        </p:txBody>
      </p:sp>
      <p:sp>
        <p:nvSpPr>
          <p:cNvPr id="6" name="Shape 4"/>
          <p:cNvSpPr/>
          <p:nvPr/>
        </p:nvSpPr>
        <p:spPr>
          <a:xfrm>
            <a:off x="6190488" y="1371600"/>
            <a:ext cx="5486400" cy="2103120"/>
          </a:xfrm>
          <a:prstGeom prst="roundRect">
            <a:avLst>
              <a:gd name="adj" fmla="val 4348"/>
            </a:avLst>
          </a:prstGeom>
          <a:solidFill>
            <a:srgbClr val="EEF0F5"/>
          </a:solidFill>
          <a:ln w="12700">
            <a:solidFill>
              <a:srgbClr val="EEF0F5"/>
            </a:solidFill>
            <a:prstDash val="solid"/>
          </a:ln>
        </p:spPr>
      </p:sp>
      <p:sp>
        <p:nvSpPr>
          <p:cNvPr id="7" name="Text 5"/>
          <p:cNvSpPr txBox="1"/>
          <p:nvPr/>
        </p:nvSpPr>
        <p:spPr>
          <a:xfrm>
            <a:off x="6464808" y="1554480"/>
            <a:ext cx="4937760" cy="45720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Vérifier</a:t>
            </a:r>
            <a:endParaRPr lang="en-US" sz="2000" dirty="0"/>
          </a:p>
        </p:txBody>
      </p:sp>
      <p:sp>
        <p:nvSpPr>
          <p:cNvPr id="8" name="Text 6"/>
          <p:cNvSpPr txBox="1"/>
          <p:nvPr/>
        </p:nvSpPr>
        <p:spPr>
          <a:xfrm>
            <a:off x="6464808" y="2103120"/>
            <a:ext cx="4937760" cy="123444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Les points incertains sont marqués « à vérifier » dans les textes de référence ; un site peut changer ses pages.</a:t>
            </a:r>
            <a:endParaRPr lang="en-US" sz="1500" dirty="0"/>
          </a:p>
        </p:txBody>
      </p:sp>
      <p:sp>
        <p:nvSpPr>
          <p:cNvPr id="9" name="Shape 7"/>
          <p:cNvSpPr/>
          <p:nvPr/>
        </p:nvSpPr>
        <p:spPr>
          <a:xfrm>
            <a:off x="457200" y="3749040"/>
            <a:ext cx="5486400" cy="2103120"/>
          </a:xfrm>
          <a:prstGeom prst="roundRect">
            <a:avLst>
              <a:gd name="adj" fmla="val 4348"/>
            </a:avLst>
          </a:prstGeom>
          <a:solidFill>
            <a:srgbClr val="EEF0F5"/>
          </a:solidFill>
          <a:ln w="12700">
            <a:solidFill>
              <a:srgbClr val="EEF0F5"/>
            </a:solidFill>
            <a:prstDash val="solid"/>
          </a:ln>
        </p:spPr>
      </p:sp>
      <p:sp>
        <p:nvSpPr>
          <p:cNvPr id="10" name="Text 8"/>
          <p:cNvSpPr txBox="1"/>
          <p:nvPr/>
        </p:nvSpPr>
        <p:spPr>
          <a:xfrm>
            <a:off x="731520" y="3931920"/>
            <a:ext cx="4937760" cy="45720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Confidentialité</a:t>
            </a:r>
            <a:endParaRPr lang="en-US" sz="2000" dirty="0"/>
          </a:p>
        </p:txBody>
      </p:sp>
      <p:sp>
        <p:nvSpPr>
          <p:cNvPr id="11" name="Text 9"/>
          <p:cNvSpPr txBox="1"/>
          <p:nvPr/>
        </p:nvSpPr>
        <p:spPr>
          <a:xfrm>
            <a:off x="731520" y="4480560"/>
            <a:ext cx="4937760" cy="123444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Rien ne quitte l’ordinateur ; mais un écran partagé, si. Jamais de vrai dossier en démonstration.</a:t>
            </a:r>
            <a:endParaRPr lang="en-US" sz="1500" dirty="0"/>
          </a:p>
        </p:txBody>
      </p:sp>
      <p:sp>
        <p:nvSpPr>
          <p:cNvPr id="12" name="Shape 10"/>
          <p:cNvSpPr/>
          <p:nvPr/>
        </p:nvSpPr>
        <p:spPr>
          <a:xfrm>
            <a:off x="6190488" y="3749040"/>
            <a:ext cx="5486400" cy="2103120"/>
          </a:xfrm>
          <a:prstGeom prst="roundRect">
            <a:avLst>
              <a:gd name="adj" fmla="val 4348"/>
            </a:avLst>
          </a:prstGeom>
          <a:solidFill>
            <a:srgbClr val="EEF0F5"/>
          </a:solidFill>
          <a:ln w="12700">
            <a:solidFill>
              <a:srgbClr val="EEF0F5"/>
            </a:solidFill>
            <a:prstDash val="solid"/>
          </a:ln>
        </p:spPr>
      </p:sp>
      <p:sp>
        <p:nvSpPr>
          <p:cNvPr id="13" name="Text 11"/>
          <p:cNvSpPr txBox="1"/>
          <p:nvPr/>
        </p:nvSpPr>
        <p:spPr>
          <a:xfrm>
            <a:off x="6464808" y="3931920"/>
            <a:ext cx="4937760" cy="457200"/>
          </a:xfrm>
          <a:prstGeom prst="rect">
            <a:avLst/>
          </a:prstGeom>
          <a:noFill/>
          <a:ln/>
        </p:spPr>
        <p:txBody>
          <a:bodyPr wrap="square" lIns="0" tIns="0" rIns="0" bIns="0" rtlCol="0" anchor="ctr"/>
          <a:lstStyle/>
          <a:p>
            <a:pPr indent="0" marL="0">
              <a:buNone/>
            </a:pPr>
            <a:r>
              <a:rPr lang="en-US" sz="2000" b="1" dirty="0">
                <a:solidFill>
                  <a:srgbClr val="1C2440"/>
                </a:solidFill>
                <a:latin typeface="Cambria" pitchFamily="34" charset="0"/>
                <a:ea typeface="Cambria" pitchFamily="34" charset="-122"/>
                <a:cs typeface="Cambria" pitchFamily="34" charset="-120"/>
              </a:rPr>
              <a:t>Word</a:t>
            </a:r>
            <a:endParaRPr lang="en-US" sz="2000" dirty="0"/>
          </a:p>
        </p:txBody>
      </p:sp>
      <p:sp>
        <p:nvSpPr>
          <p:cNvPr id="14" name="Text 12"/>
          <p:cNvSpPr txBox="1"/>
          <p:nvPr/>
        </p:nvSpPr>
        <p:spPr>
          <a:xfrm>
            <a:off x="6464808" y="4480560"/>
            <a:ext cx="4937760" cy="1234440"/>
          </a:xfrm>
          <a:prstGeom prst="rect">
            <a:avLst/>
          </a:prstGeom>
          <a:noFill/>
          <a:ln/>
        </p:spPr>
        <p:txBody>
          <a:bodyPr wrap="square" lIns="0" tIns="0" rIns="0" bIns="0" rtlCol="0" anchor="t"/>
          <a:lstStyle/>
          <a:p>
            <a:pPr indent="0" marL="0">
              <a:buNone/>
            </a:pPr>
            <a:r>
              <a:rPr lang="en-US" sz="1500" dirty="0">
                <a:solidFill>
                  <a:srgbClr val="222630"/>
                </a:solidFill>
                <a:latin typeface="Calibri" pitchFamily="34" charset="0"/>
                <a:ea typeface="Calibri" pitchFamily="34" charset="-122"/>
                <a:cs typeface="Calibri" pitchFamily="34" charset="-120"/>
              </a:rPr>
              <a:t>Mettre à jour la table des matières (clic droit) ; si une conversion d’annexe échoue, enregistrer la pièce en PDF.</a:t>
            </a:r>
            <a:endParaRPr lang="en-US" sz="1500" dirty="0"/>
          </a:p>
        </p:txBody>
      </p:sp>
      <p:sp>
        <p:nvSpPr>
          <p:cNvPr id="15" name="Text 13"/>
          <p:cNvSpPr txBox="1"/>
          <p:nvPr/>
        </p:nvSpPr>
        <p:spPr>
          <a:xfrm>
            <a:off x="457200" y="6400800"/>
            <a:ext cx="11247120" cy="274320"/>
          </a:xfrm>
          <a:prstGeom prst="rect">
            <a:avLst/>
          </a:prstGeom>
          <a:noFill/>
          <a:ln/>
        </p:spPr>
        <p:txBody>
          <a:bodyPr wrap="square" lIns="0" tIns="0" rIns="0" bIns="0" rtlCol="0" anchor="ctr"/>
          <a:lstStyle/>
          <a:p>
            <a:pPr indent="0" marL="0">
              <a:buNone/>
            </a:pPr>
            <a:r>
              <a:rPr lang="en-US" sz="1000" dirty="0">
                <a:solidFill>
                  <a:srgbClr val="5B6170"/>
                </a:solidFill>
                <a:latin typeface="Calibri" pitchFamily="34" charset="0"/>
                <a:ea typeface="Calibri" pitchFamily="34" charset="-122"/>
                <a:cs typeface="Calibri" pitchFamily="34" charset="-120"/>
              </a:rPr>
              <a:t>Kit de démo Probasile 1.1.1 – données fictives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2440"/>
        </a:solidFill>
      </p:bgPr>
    </p:bg>
    <p:spTree>
      <p:nvGrpSpPr>
        <p:cNvPr id="1" name=""/>
        <p:cNvGrpSpPr/>
        <p:nvPr/>
      </p:nvGrpSpPr>
      <p:grpSpPr>
        <a:xfrm>
          <a:off x="0" y="0"/>
          <a:ext cx="0" cy="0"/>
          <a:chOff x="0" y="0"/>
          <a:chExt cx="0" cy="0"/>
        </a:xfrm>
      </p:grpSpPr>
      <p:pic>
        <p:nvPicPr>
          <p:cNvPr id="2" name="Image 0" descr="Icône de Probasile">    </p:cNvPr>
          <p:cNvPicPr>
            <a:picLocks noChangeAspect="1"/>
          </p:cNvPicPr>
          <p:nvPr/>
        </p:nvPicPr>
        <p:blipFill>
          <a:blip r:embed="rId1"/>
          <a:stretch>
            <a:fillRect/>
          </a:stretch>
        </p:blipFill>
        <p:spPr>
          <a:xfrm>
            <a:off x="731520" y="822960"/>
            <a:ext cx="1188720" cy="1188720"/>
          </a:xfrm>
          <a:prstGeom prst="rect">
            <a:avLst/>
          </a:prstGeom>
        </p:spPr>
      </p:pic>
      <p:sp>
        <p:nvSpPr>
          <p:cNvPr id="3" name="Text 0"/>
          <p:cNvSpPr txBox="1"/>
          <p:nvPr/>
        </p:nvSpPr>
        <p:spPr>
          <a:xfrm>
            <a:off x="731520" y="2286000"/>
            <a:ext cx="10698480" cy="1188720"/>
          </a:xfrm>
          <a:prstGeom prst="rect">
            <a:avLst/>
          </a:prstGeom>
          <a:noFill/>
          <a:ln/>
        </p:spPr>
        <p:txBody>
          <a:bodyPr wrap="square" lIns="0" tIns="0" rIns="0" bIns="0" rtlCol="0" anchor="ctr"/>
          <a:lstStyle/>
          <a:p>
            <a:pPr indent="0" marL="0">
              <a:buNone/>
            </a:pPr>
            <a:r>
              <a:rPr lang="en-US" sz="4400" b="1" dirty="0">
                <a:solidFill>
                  <a:srgbClr val="F6F2E8"/>
                </a:solidFill>
                <a:latin typeface="Cambria" pitchFamily="34" charset="0"/>
                <a:ea typeface="Cambria" pitchFamily="34" charset="-122"/>
                <a:cs typeface="Cambria" pitchFamily="34" charset="-120"/>
              </a:rPr>
              <a:t>Merci !</a:t>
            </a:r>
            <a:endParaRPr lang="en-US" sz="4400" dirty="0"/>
          </a:p>
        </p:txBody>
      </p:sp>
      <p:sp>
        <p:nvSpPr>
          <p:cNvPr id="4" name="Text 1"/>
          <p:cNvSpPr txBox="1"/>
          <p:nvPr/>
        </p:nvSpPr>
        <p:spPr>
          <a:xfrm>
            <a:off x="731520" y="3520440"/>
            <a:ext cx="10698480" cy="1097280"/>
          </a:xfrm>
          <a:prstGeom prst="rect">
            <a:avLst/>
          </a:prstGeom>
          <a:noFill/>
          <a:ln/>
        </p:spPr>
        <p:txBody>
          <a:bodyPr wrap="square" lIns="0" tIns="0" rIns="0" bIns="0" rtlCol="0" anchor="t"/>
          <a:lstStyle/>
          <a:p>
            <a:pPr indent="0" marL="0">
              <a:buNone/>
            </a:pPr>
            <a:r>
              <a:rPr lang="en-US" sz="2200" dirty="0">
                <a:solidFill>
                  <a:srgbClr val="FF7A30"/>
                </a:solidFill>
                <a:latin typeface="Calibri" pitchFamily="34" charset="0"/>
                <a:ea typeface="Calibri" pitchFamily="34" charset="-122"/>
                <a:cs typeface="Calibri" pitchFamily="34" charset="-120"/>
              </a:rPr>
              <a:t>Testeurs Windows et Mac, juristes pour relire les blocs et le bulletin,</a:t>
            </a:r>
            <a:endParaRPr lang="en-US" sz="2200" dirty="0"/>
          </a:p>
          <a:p>
            <a:pPr indent="0" marL="0">
              <a:buNone/>
            </a:pPr>
            <a:r>
              <a:rPr lang="en-US" sz="2200" dirty="0">
                <a:solidFill>
                  <a:srgbClr val="FF7A30"/>
                </a:solidFill>
                <a:latin typeface="Calibri" pitchFamily="34" charset="0"/>
                <a:ea typeface="Calibri" pitchFamily="34" charset="-122"/>
                <a:cs typeface="Calibri" pitchFamily="34" charset="-120"/>
              </a:rPr>
              <a:t>traductions, code : toute aide est bienvenue.</a:t>
            </a:r>
            <a:endParaRPr lang="en-US" sz="2200" dirty="0"/>
          </a:p>
        </p:txBody>
      </p:sp>
      <p:sp>
        <p:nvSpPr>
          <p:cNvPr id="5" name="Text 2"/>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400" dirty="0">
                <a:solidFill>
                  <a:srgbClr val="AAB2C8"/>
                </a:solidFill>
                <a:latin typeface="Calibri" pitchFamily="34" charset="0"/>
                <a:ea typeface="Calibri" pitchFamily="34" charset="-122"/>
                <a:cs typeface="Calibri" pitchFamily="34" charset="-120"/>
              </a:rPr>
              <a:t>github.com/quantumnomadcoder/probasile · licence GPL-3.0 · projet porté par une seule personne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Probasile – démonstration</dc:title>
  <dc:subject>PptxGenJS Presentation</dc:subject>
  <dc:creator>Probasile</dc:creator>
  <cp:lastModifiedBy>Probasile</cp:lastModifiedBy>
  <cp:revision>1</cp:revision>
  <dcterms:created xsi:type="dcterms:W3CDTF">2026-10-01T11:01:06Z</dcterms:created>
  <dcterms:modified xsi:type="dcterms:W3CDTF">2026-10-01T11:01:06Z</dcterms:modified>
</cp:coreProperties>
</file>